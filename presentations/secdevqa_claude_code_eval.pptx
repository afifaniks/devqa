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7"/>
  </p:normalViewPr>
  <p:slideViewPr>
    <p:cSldViewPr snapToGrid="0" snapToObjects="1">
      <p:cViewPr varScale="1">
        <p:scale>
          <a:sx n="210" d="100"/>
          <a:sy n="210" d="100"/>
        </p:scale>
        <p:origin x="117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148840"/>
            <a:ext cx="1082009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1A1A1A"/>
                </a:solidFill>
                <a:latin typeface="Calibri"/>
              </a:rPr>
              <a:t>Evaluating Claude Code on </a:t>
            </a:r>
            <a:r>
              <a:rPr lang="en-CA" sz="4000" b="1" i="0" dirty="0" err="1">
                <a:solidFill>
                  <a:srgbClr val="1A1A1A"/>
                </a:solidFill>
                <a:latin typeface="Calibri"/>
              </a:rPr>
              <a:t>SecDevQA</a:t>
            </a:r>
            <a:endParaRPr sz="4000" b="1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3703320"/>
            <a:ext cx="1463040" cy="31750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023360"/>
            <a:ext cx="10820095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>
                <a:solidFill>
                  <a:srgbClr val="707070"/>
                </a:solidFill>
                <a:latin typeface="Calibri"/>
              </a:rPr>
              <a:t>26 queries </a:t>
            </a:r>
            <a:endParaRPr lang="en-CA" sz="1400" dirty="0">
              <a:solidFill>
                <a:srgbClr val="707070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400" b="0" i="0" dirty="0">
                <a:solidFill>
                  <a:srgbClr val="707070"/>
                </a:solidFill>
                <a:latin typeface="Calibri"/>
              </a:rPr>
              <a:t>15 repositories </a:t>
            </a:r>
            <a:endParaRPr lang="en-CA" sz="1400" dirty="0">
              <a:solidFill>
                <a:srgbClr val="707070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lang="en-CA" sz="1400" b="0" i="0" dirty="0">
                <a:solidFill>
                  <a:srgbClr val="707070"/>
                </a:solidFill>
                <a:latin typeface="Calibri"/>
              </a:rPr>
              <a:t>Model:</a:t>
            </a:r>
            <a:r>
              <a:rPr sz="1400" b="0" i="0" dirty="0">
                <a:solidFill>
                  <a:srgbClr val="707070"/>
                </a:solidFill>
                <a:latin typeface="Calibri"/>
              </a:rPr>
              <a:t> </a:t>
            </a:r>
            <a:r>
              <a:rPr lang="en-CA" sz="1400" dirty="0">
                <a:solidFill>
                  <a:srgbClr val="707070"/>
                </a:solidFill>
                <a:latin typeface="Calibri"/>
              </a:rPr>
              <a:t>C</a:t>
            </a:r>
            <a:r>
              <a:rPr sz="1400" b="0" i="0" dirty="0">
                <a:solidFill>
                  <a:srgbClr val="707070"/>
                </a:solidFill>
                <a:latin typeface="Calibri"/>
              </a:rPr>
              <a:t>laude</a:t>
            </a:r>
            <a:r>
              <a:rPr lang="en-CA" sz="1400" b="0" i="0" dirty="0">
                <a:solidFill>
                  <a:srgbClr val="707070"/>
                </a:solidFill>
                <a:latin typeface="Calibri"/>
              </a:rPr>
              <a:t> </a:t>
            </a:r>
            <a:r>
              <a:rPr lang="en-CA" sz="1400" dirty="0">
                <a:solidFill>
                  <a:srgbClr val="707070"/>
                </a:solidFill>
                <a:latin typeface="Calibri"/>
              </a:rPr>
              <a:t>O</a:t>
            </a:r>
            <a:r>
              <a:rPr sz="1400" b="0" i="0" dirty="0">
                <a:solidFill>
                  <a:srgbClr val="707070"/>
                </a:solidFill>
                <a:latin typeface="Calibri"/>
              </a:rPr>
              <a:t>pus</a:t>
            </a:r>
            <a:r>
              <a:rPr lang="en-CA" sz="1400" b="0" i="0" dirty="0">
                <a:solidFill>
                  <a:srgbClr val="707070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707070"/>
                </a:solidFill>
                <a:latin typeface="Calibri"/>
              </a:rPr>
              <a:t>4</a:t>
            </a:r>
            <a:r>
              <a:rPr lang="en-CA" sz="1400" b="0" i="0" dirty="0">
                <a:solidFill>
                  <a:srgbClr val="707070"/>
                </a:solidFill>
                <a:latin typeface="Calibri"/>
              </a:rPr>
              <a:t>.</a:t>
            </a:r>
            <a:r>
              <a:rPr sz="1400" b="0" i="0" dirty="0">
                <a:solidFill>
                  <a:srgbClr val="707070"/>
                </a:solidFill>
                <a:latin typeface="Calibri"/>
              </a:rPr>
              <a:t>8</a:t>
            </a:r>
            <a:endParaRPr lang="en-CA" sz="1400" b="0" i="0" dirty="0">
              <a:solidFill>
                <a:srgbClr val="707070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lang="en-CA" sz="1400" dirty="0">
                <a:solidFill>
                  <a:srgbClr val="707070"/>
                </a:solidFill>
                <a:latin typeface="Calibri"/>
              </a:rPr>
              <a:t>J</a:t>
            </a:r>
            <a:r>
              <a:rPr sz="1400" b="0" i="0" dirty="0" err="1">
                <a:solidFill>
                  <a:srgbClr val="707070"/>
                </a:solidFill>
                <a:latin typeface="Calibri"/>
              </a:rPr>
              <a:t>udge</a:t>
            </a:r>
            <a:r>
              <a:rPr lang="en-CA" sz="1400" b="0" i="0" dirty="0">
                <a:solidFill>
                  <a:srgbClr val="707070"/>
                </a:solidFill>
                <a:latin typeface="Calibri"/>
              </a:rPr>
              <a:t>:</a:t>
            </a:r>
            <a:r>
              <a:rPr sz="1400" b="0" i="0" dirty="0">
                <a:solidFill>
                  <a:srgbClr val="707070"/>
                </a:solidFill>
                <a:latin typeface="Calibri"/>
              </a:rPr>
              <a:t> </a:t>
            </a:r>
            <a:r>
              <a:rPr lang="en-CA" sz="1400" b="0" i="0" dirty="0">
                <a:solidFill>
                  <a:srgbClr val="707070"/>
                </a:solidFill>
                <a:latin typeface="Calibri"/>
              </a:rPr>
              <a:t>GPT</a:t>
            </a:r>
            <a:r>
              <a:rPr lang="en-CA" sz="1400" dirty="0">
                <a:solidFill>
                  <a:srgbClr val="707070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707070"/>
                </a:solidFill>
                <a:latin typeface="Calibri"/>
              </a:rPr>
              <a:t>5.5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02336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The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87552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07070"/>
                </a:solidFill>
                <a:latin typeface="Calibri"/>
              </a:rPr>
              <a:t>A developer's security question, answered as of the day it was posted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997964"/>
            <a:ext cx="73152" cy="73152"/>
          </a:xfrm>
          <a:prstGeom prst="ellipse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05256" y="1874520"/>
            <a:ext cx="526694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Calibri"/>
              </a:rPr>
              <a:t>Real security threads from GitHub issues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656332"/>
            <a:ext cx="73152" cy="73152"/>
          </a:xfrm>
          <a:prstGeom prst="ellipse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2532888"/>
            <a:ext cx="526694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Calibri"/>
              </a:rPr>
              <a:t>Self-contained query + gold answer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314700"/>
            <a:ext cx="73152" cy="73152"/>
          </a:xfrm>
          <a:prstGeom prst="ellipse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" y="3191256"/>
            <a:ext cx="526694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 dirty="0">
                <a:solidFill>
                  <a:srgbClr val="1A1A1A"/>
                </a:solidFill>
                <a:latin typeface="Calibri"/>
              </a:rPr>
              <a:t>Graded on a per-item rubric, not text overlap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973068"/>
            <a:ext cx="73152" cy="73152"/>
          </a:xfrm>
          <a:prstGeom prst="ellipse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" y="3849624"/>
            <a:ext cx="526694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Calibri"/>
              </a:rPr>
              <a:t>Answerable only from what existed at time 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527048"/>
            <a:ext cx="4693615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22008" y="1636776"/>
            <a:ext cx="4474159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QUERY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707070"/>
                </a:solidFill>
                <a:latin typeface="Calibri"/>
              </a:rPr>
              <a:t>"ImageMagick 7.1.2-13: WriteHEICImage() calls</a:t>
            </a:r>
          </a:p>
          <a:p>
            <a:pPr algn="ctr"/>
            <a:r>
              <a:rPr sz="1200">
                <a:solidFill>
                  <a:srgbClr val="707070"/>
                </a:solidFill>
                <a:latin typeface="Calibri"/>
              </a:rPr>
              <a:t>heif_nclx_color_profile_alloc() without a NULL</a:t>
            </a:r>
          </a:p>
          <a:p>
            <a:pPr algn="ctr"/>
            <a:r>
              <a:rPr sz="1200">
                <a:solidFill>
                  <a:srgbClr val="707070"/>
                </a:solidFill>
                <a:latin typeface="Calibri"/>
              </a:rPr>
              <a:t>check → SIGSEGV at 0x4"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058503" y="2990088"/>
            <a:ext cx="201168" cy="274320"/>
          </a:xfrm>
          <a:prstGeom prst="downArrow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12280" y="3355848"/>
            <a:ext cx="4693615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22008" y="3465576"/>
            <a:ext cx="4474159" cy="923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GOLD ANSWER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707070"/>
                </a:solidFill>
                <a:latin typeface="Calibri"/>
              </a:rPr>
              <a:t>Patch commit + the NULL-check</a:t>
            </a:r>
          </a:p>
          <a:p>
            <a:pPr algn="ctr"/>
            <a:r>
              <a:rPr sz="1200">
                <a:solidFill>
                  <a:srgbClr val="707070"/>
                </a:solidFill>
                <a:latin typeface="Calibri"/>
              </a:rPr>
              <a:t>the maintainer actually applied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9058503" y="4562856"/>
            <a:ext cx="201168" cy="274320"/>
          </a:xfrm>
          <a:prstGeom prst="downArrow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12280" y="4928616"/>
            <a:ext cx="4693615" cy="868680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2F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22008" y="5038344"/>
            <a:ext cx="4474159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RUBRIC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707070"/>
                </a:solidFill>
                <a:latin typeface="Calibri"/>
              </a:rPr>
              <a:t>71 criteria across 26 items</a:t>
            </a:r>
          </a:p>
          <a:p>
            <a:pPr algn="ctr"/>
            <a:r>
              <a:rPr sz="1200">
                <a:solidFill>
                  <a:srgbClr val="707070"/>
                </a:solidFill>
                <a:latin typeface="Calibri"/>
              </a:rPr>
              <a:t>correctness · completeness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02336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Evaluation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87552"/>
            <a:ext cx="108200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>
                <a:solidFill>
                  <a:srgbClr val="707070"/>
                </a:solidFill>
                <a:latin typeface="Calibri"/>
              </a:rPr>
              <a:t>The host freezes the </a:t>
            </a:r>
            <a:r>
              <a:rPr lang="en-CA" sz="1400" b="0" i="0" dirty="0">
                <a:solidFill>
                  <a:srgbClr val="707070"/>
                </a:solidFill>
                <a:latin typeface="Calibri"/>
              </a:rPr>
              <a:t>context</a:t>
            </a:r>
            <a:r>
              <a:rPr sz="1400" b="0" i="0" dirty="0">
                <a:solidFill>
                  <a:srgbClr val="707070"/>
                </a:solidFill>
                <a:latin typeface="Calibri"/>
              </a:rPr>
              <a:t> at time T; the container is offline and reconstructs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4114800" cy="3977639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728216"/>
            <a:ext cx="37856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5C8F"/>
                </a:solidFill>
                <a:latin typeface="Calibri"/>
              </a:rPr>
              <a:t>HOST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657600" cy="566928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212848"/>
            <a:ext cx="3438144" cy="397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dirty="0">
                <a:solidFill>
                  <a:srgbClr val="1A1A1A"/>
                </a:solidFill>
                <a:latin typeface="Calibri"/>
              </a:rPr>
              <a:t>Benchmark item</a:t>
            </a:r>
          </a:p>
          <a:p>
            <a:pPr algn="ctr">
              <a:spcBef>
                <a:spcPts val="400"/>
              </a:spcBef>
            </a:pPr>
            <a:r>
              <a:rPr lang="en-CA" sz="1050" dirty="0">
                <a:solidFill>
                  <a:srgbClr val="707070"/>
                </a:solidFill>
                <a:latin typeface="Calibri"/>
              </a:rPr>
              <a:t>Synthesized QA</a:t>
            </a:r>
            <a:r>
              <a:rPr sz="1050" dirty="0">
                <a:solidFill>
                  <a:srgbClr val="707070"/>
                </a:solidFill>
                <a:latin typeface="Calibri"/>
              </a:rPr>
              <a:t> · report time </a:t>
            </a:r>
            <a:r>
              <a:rPr sz="1050" b="1" dirty="0">
                <a:latin typeface="Calibri"/>
              </a:rPr>
              <a:t>T</a:t>
            </a:r>
            <a:r>
              <a:rPr sz="1050" dirty="0">
                <a:solidFill>
                  <a:srgbClr val="707070"/>
                </a:solidFill>
                <a:latin typeface="Calibri"/>
              </a:rPr>
              <a:t> · base commit</a:t>
            </a:r>
          </a:p>
        </p:txBody>
      </p:sp>
      <p:sp>
        <p:nvSpPr>
          <p:cNvPr id="8" name="Down Arrow 7"/>
          <p:cNvSpPr/>
          <p:nvPr/>
        </p:nvSpPr>
        <p:spPr>
          <a:xfrm>
            <a:off x="2642616" y="2715768"/>
            <a:ext cx="201168" cy="237744"/>
          </a:xfrm>
          <a:prstGeom prst="downArrow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3026664"/>
            <a:ext cx="3657600" cy="566928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136392"/>
            <a:ext cx="34381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dirty="0">
                <a:solidFill>
                  <a:srgbClr val="1A1A1A"/>
                </a:solidFill>
                <a:latin typeface="Calibri"/>
              </a:rPr>
              <a:t>Snapshot builder</a:t>
            </a:r>
          </a:p>
          <a:p>
            <a:pPr algn="ctr">
              <a:spcBef>
                <a:spcPts val="400"/>
              </a:spcBef>
            </a:pPr>
            <a:r>
              <a:rPr sz="1050" dirty="0">
                <a:solidFill>
                  <a:srgbClr val="707070"/>
                </a:solidFill>
                <a:latin typeface="Calibri"/>
              </a:rPr>
              <a:t>verify base commit · cap corpora at 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642616" y="3639312"/>
            <a:ext cx="201168" cy="237744"/>
          </a:xfrm>
          <a:prstGeom prst="downArrow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3950208"/>
            <a:ext cx="3657600" cy="1371600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2F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4059936"/>
            <a:ext cx="3438144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dirty="0">
                <a:solidFill>
                  <a:srgbClr val="1A1A1A"/>
                </a:solidFill>
                <a:latin typeface="Calibri"/>
              </a:rPr>
              <a:t>Payload</a:t>
            </a:r>
          </a:p>
          <a:p>
            <a:pPr algn="ctr">
              <a:spcBef>
                <a:spcPts val="400"/>
              </a:spcBef>
            </a:pPr>
            <a:r>
              <a:rPr sz="1050" dirty="0" err="1">
                <a:solidFill>
                  <a:srgbClr val="707070"/>
                </a:solidFill>
                <a:latin typeface="Calibri"/>
              </a:rPr>
              <a:t>repo.git</a:t>
            </a:r>
            <a:r>
              <a:rPr sz="1050" dirty="0">
                <a:solidFill>
                  <a:srgbClr val="707070"/>
                </a:solidFill>
                <a:latin typeface="Calibri"/>
              </a:rPr>
              <a:t> — bare mirror, ancestors of</a:t>
            </a:r>
          </a:p>
          <a:p>
            <a:pPr algn="ctr"/>
            <a:r>
              <a:rPr sz="1050" dirty="0">
                <a:solidFill>
                  <a:srgbClr val="707070"/>
                </a:solidFill>
                <a:latin typeface="Calibri"/>
              </a:rPr>
              <a:t>base commit only (fetched by SHA)</a:t>
            </a:r>
          </a:p>
          <a:p>
            <a:pPr algn="ctr"/>
            <a:r>
              <a:rPr sz="1050" dirty="0">
                <a:solidFill>
                  <a:srgbClr val="707070"/>
                </a:solidFill>
                <a:latin typeface="Calibri"/>
              </a:rPr>
              <a:t>issues · PRs · advisories ≤ T (JSON)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65192" y="3429000"/>
            <a:ext cx="685800" cy="201168"/>
          </a:xfrm>
          <a:prstGeom prst="rightArrow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73752" y="309067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707070"/>
                </a:solidFill>
                <a:latin typeface="Calibri"/>
              </a:rPr>
              <a:t>mount</a:t>
            </a:r>
          </a:p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707070"/>
                </a:solidFill>
                <a:latin typeface="Calibri"/>
              </a:rPr>
              <a:t>read-only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2" y="1600200"/>
            <a:ext cx="5672023" cy="3977639"/>
          </a:xfrm>
          <a:prstGeom prst="roundRect">
            <a:avLst>
              <a:gd name="adj" fmla="val 6010"/>
            </a:avLst>
          </a:prstGeom>
          <a:solidFill>
            <a:srgbClr val="FFFFFF"/>
          </a:solidFill>
          <a:ln w="9525">
            <a:solidFill>
              <a:srgbClr val="2F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98464" y="1728216"/>
            <a:ext cx="5342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5C8F"/>
                </a:solidFill>
                <a:latin typeface="Calibri"/>
              </a:rPr>
              <a:t>CONTAINER  (podman, --rm, egress-locked)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62472" y="2103120"/>
            <a:ext cx="5214823" cy="54864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2212848"/>
            <a:ext cx="499536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entrypoint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707070"/>
                </a:solidFill>
                <a:latin typeface="Calibri"/>
              </a:rPr>
              <a:t>DNS/iptables allowlist  →  clone mirror  →  checkout base commit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62472" y="2807208"/>
            <a:ext cx="2515971" cy="841248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72200" y="2916936"/>
            <a:ext cx="229651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A1A1A"/>
                </a:solidFill>
                <a:latin typeface="Calibri"/>
              </a:rPr>
              <a:t>/workspace/repo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707070"/>
                </a:solidFill>
                <a:latin typeface="Calibri"/>
              </a:rPr>
              <a:t>real clone at</a:t>
            </a:r>
          </a:p>
          <a:p>
            <a:pPr algn="ctr"/>
            <a:r>
              <a:rPr sz="1050">
                <a:solidFill>
                  <a:srgbClr val="707070"/>
                </a:solidFill>
                <a:latin typeface="Calibri"/>
              </a:rPr>
              <a:t>base commit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61323" y="2807208"/>
            <a:ext cx="2515971" cy="841248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2F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71051" y="2916936"/>
            <a:ext cx="229651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A1A1A"/>
                </a:solidFill>
                <a:latin typeface="Calibri"/>
              </a:rPr>
              <a:t>MCP server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707070"/>
                </a:solidFill>
                <a:latin typeface="Calibri"/>
              </a:rPr>
              <a:t>issues · PRs · advisories</a:t>
            </a:r>
          </a:p>
          <a:p>
            <a:pPr algn="ctr"/>
            <a:r>
              <a:rPr sz="1050">
                <a:solidFill>
                  <a:srgbClr val="707070"/>
                </a:solidFill>
                <a:latin typeface="Calibri"/>
              </a:rPr>
              <a:t>commits · CVE lookup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219873" y="3703320"/>
            <a:ext cx="201168" cy="237744"/>
          </a:xfrm>
          <a:prstGeom prst="downArrow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wn Arrow 24"/>
          <p:cNvSpPr/>
          <p:nvPr/>
        </p:nvSpPr>
        <p:spPr>
          <a:xfrm>
            <a:off x="9918725" y="3703320"/>
            <a:ext cx="201168" cy="237744"/>
          </a:xfrm>
          <a:prstGeom prst="downArrow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062472" y="4014216"/>
            <a:ext cx="5214823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F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4123944"/>
            <a:ext cx="4995367" cy="420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dirty="0" err="1">
                <a:solidFill>
                  <a:srgbClr val="1A1A1A"/>
                </a:solidFill>
                <a:latin typeface="Calibri"/>
              </a:rPr>
              <a:t>claude</a:t>
            </a:r>
            <a:r>
              <a:rPr sz="1300" b="1" i="0" dirty="0">
                <a:solidFill>
                  <a:srgbClr val="1A1A1A"/>
                </a:solidFill>
                <a:latin typeface="Calibri"/>
              </a:rPr>
              <a:t>-code  (headless)</a:t>
            </a:r>
          </a:p>
          <a:p>
            <a:pPr algn="ctr">
              <a:spcBef>
                <a:spcPts val="400"/>
              </a:spcBef>
            </a:pPr>
            <a:r>
              <a:rPr sz="1100" dirty="0">
                <a:solidFill>
                  <a:srgbClr val="707070"/>
                </a:solidFill>
                <a:latin typeface="Calibri"/>
              </a:rPr>
              <a:t>native Read / Grep / Bash / git   +  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MCP tools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8569299" y="4727448"/>
            <a:ext cx="201168" cy="237744"/>
          </a:xfrm>
          <a:prstGeom prst="downArrow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062472" y="5038344"/>
            <a:ext cx="5214823" cy="384048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72200" y="5038344"/>
            <a:ext cx="499536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A1A1A"/>
                </a:solidFill>
                <a:latin typeface="Calibri"/>
              </a:rPr>
              <a:t>answer  +  tool transcript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291072"/>
            <a:ext cx="1082009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707070"/>
                </a:solidFill>
                <a:latin typeface="Calibri"/>
              </a:rPr>
              <a:t>No network</a:t>
            </a:r>
            <a:r>
              <a:rPr lang="en-CA" sz="1050" b="0" i="0" dirty="0">
                <a:solidFill>
                  <a:srgbClr val="707070"/>
                </a:solidFill>
                <a:latin typeface="Calibri"/>
              </a:rPr>
              <a:t> access</a:t>
            </a:r>
            <a:r>
              <a:rPr sz="1050" b="0" i="0" dirty="0">
                <a:solidFill>
                  <a:srgbClr val="707070"/>
                </a:solidFill>
                <a:latin typeface="Calibri"/>
              </a:rPr>
              <a:t> to GitHub at run time — the mirror is a local path, so the time cap cannot be bypassed.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02336"/>
            <a:ext cx="1082009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CA" sz="3000" b="1" i="0" dirty="0">
                <a:solidFill>
                  <a:srgbClr val="1A1A1A"/>
                </a:solidFill>
                <a:latin typeface="Calibri"/>
              </a:rPr>
              <a:t>The Prompt</a:t>
            </a:r>
            <a:endParaRPr sz="3000" b="1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1EDE48-C52C-C9AA-BA43-1CCD62C159BB}"/>
              </a:ext>
            </a:extLst>
          </p:cNvPr>
          <p:cNvSpPr txBox="1"/>
          <p:nvPr/>
        </p:nvSpPr>
        <p:spPr>
          <a:xfrm>
            <a:off x="685799" y="1086863"/>
            <a:ext cx="1069272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You are a maintainer of a software project </a:t>
            </a:r>
            <a:r>
              <a:rPr lang="en-CA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`{repo}`</a:t>
            </a:r>
            <a:r>
              <a:rPr lang="en-CA" sz="1600" dirty="0"/>
              <a:t>, answering a security related query a \</a:t>
            </a:r>
          </a:p>
          <a:p>
            <a:r>
              <a:rPr lang="en-CA" sz="1600" dirty="0"/>
              <a:t>developer has raised on the project's tracker. Today's date is </a:t>
            </a:r>
            <a:r>
              <a:rPr lang="en-CA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{</a:t>
            </a:r>
            <a:r>
              <a:rPr lang="en-CA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report_date</a:t>
            </a:r>
            <a:r>
              <a:rPr lang="en-CA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}</a:t>
            </a:r>
            <a:r>
              <a:rPr lang="en-CA" sz="1600" dirty="0"/>
              <a:t>.</a:t>
            </a:r>
          </a:p>
          <a:p>
            <a:endParaRPr lang="en-CA" sz="1600" dirty="0"/>
          </a:p>
          <a:p>
            <a:r>
              <a:rPr lang="en-CA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{context (e.g., code repo path in disk, available MCP tools, etc.)}</a:t>
            </a:r>
            <a:br>
              <a:rPr lang="en-CA" sz="1600" dirty="0"/>
            </a:br>
            <a:endParaRPr lang="en-CA" sz="1600" dirty="0"/>
          </a:p>
          <a:p>
            <a:r>
              <a:rPr lang="en-CA" sz="1600" dirty="0"/>
              <a:t>Work out what the query actually calls for — often more than one of these:</a:t>
            </a:r>
          </a:p>
          <a:p>
            <a:br>
              <a:rPr lang="en-CA" sz="1600" dirty="0"/>
            </a:br>
            <a:r>
              <a:rPr lang="en-CA" sz="1600" dirty="0"/>
              <a:t>- A fix already exists: name the fixed version, patch commit, release, or the PR/issue that resolved it.</a:t>
            </a:r>
          </a:p>
          <a:p>
            <a:br>
              <a:rPr lang="en-CA" sz="1600" dirty="0"/>
            </a:br>
            <a:r>
              <a:rPr lang="en-CA" sz="1600" dirty="0"/>
              <a:t>- It is already reported or in flight: point to the prior or open issue/PR, what it  changes, and when it is expected to land.</a:t>
            </a:r>
          </a:p>
          <a:p>
            <a:br>
              <a:rPr lang="en-CA" sz="1600" dirty="0"/>
            </a:br>
            <a:r>
              <a:rPr lang="en-CA" sz="1600" dirty="0"/>
              <a:t>- The project is not affected: say so and give the reason — unreachable code path,  unsupported platform or build tag, code not shipped in a standard install, or a wrong  entry in the scanner's vulnerability database.</a:t>
            </a:r>
          </a:p>
          <a:p>
            <a:br>
              <a:rPr lang="en-CA" sz="1600" dirty="0"/>
            </a:br>
            <a:r>
              <a:rPr lang="en-CA" sz="1600" dirty="0"/>
              <a:t>- It turns on an advisory: give the CVE/GHSA id with the affected and fixed version ranges.</a:t>
            </a:r>
          </a:p>
          <a:p>
            <a:br>
              <a:rPr lang="en-CA" sz="1600" dirty="0"/>
            </a:br>
            <a:r>
              <a:rPr lang="en-CA" sz="1600" dirty="0"/>
              <a:t>- No fix exists yet: give the remediation the developer should apply now — a dependency override or pin, a configuration or policy change, or the code change to make — concrete  enough to act on.</a:t>
            </a:r>
            <a:br>
              <a:rPr lang="en-CA" sz="1600" dirty="0"/>
            </a:br>
            <a:endParaRPr lang="en-CA" sz="1600" dirty="0"/>
          </a:p>
          <a:p>
            <a:pPr marL="285750" indent="-285750">
              <a:buFontTx/>
              <a:buChar char="-"/>
            </a:pPr>
            <a:r>
              <a:rPr lang="en-CA" sz="1600" dirty="0"/>
              <a:t>It is a question of design or project policy: state the project's position and the  reasoning behind it.</a:t>
            </a:r>
          </a:p>
          <a:p>
            <a:r>
              <a:rPr lang="en-CA" sz="1600" dirty="0"/>
              <a:t>…</a:t>
            </a:r>
          </a:p>
          <a:p>
            <a:r>
              <a:rPr lang="en-CA" sz="1600" dirty="0"/>
              <a:t>## Query</a:t>
            </a:r>
          </a:p>
          <a:p>
            <a:r>
              <a:rPr lang="en-CA" sz="1600" b="1" dirty="0">
                <a:solidFill>
                  <a:schemeClr val="accent2">
                    <a:lumMod val="75000"/>
                  </a:schemeClr>
                </a:solidFill>
              </a:rPr>
              <a:t>{query}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6754F-5B3D-E88C-2712-8D2D743E4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5A3A19-4B45-9660-1E4C-FA7918E9FF1F}"/>
              </a:ext>
            </a:extLst>
          </p:cNvPr>
          <p:cNvSpPr txBox="1"/>
          <p:nvPr/>
        </p:nvSpPr>
        <p:spPr>
          <a:xfrm>
            <a:off x="685800" y="402336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What the agent sees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39CDFA-10DF-DDFC-F557-6DD198B1566C}"/>
              </a:ext>
            </a:extLst>
          </p:cNvPr>
          <p:cNvSpPr txBox="1"/>
          <p:nvPr/>
        </p:nvSpPr>
        <p:spPr>
          <a:xfrm>
            <a:off x="685800" y="987552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07070"/>
                </a:solidFill>
                <a:latin typeface="Calibri"/>
              </a:rPr>
              <a:t>Everything is frozen at T = the moment the query was posted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D447475-0731-CA2D-09A3-148847C8A86E}"/>
              </a:ext>
            </a:extLst>
          </p:cNvPr>
          <p:cNvSpPr/>
          <p:nvPr/>
        </p:nvSpPr>
        <p:spPr>
          <a:xfrm>
            <a:off x="685800" y="1600200"/>
            <a:ext cx="2194560" cy="566928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2F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6D81EE-CE96-F4A6-C6F1-937167031531}"/>
              </a:ext>
            </a:extLst>
          </p:cNvPr>
          <p:cNvSpPr txBox="1"/>
          <p:nvPr/>
        </p:nvSpPr>
        <p:spPr>
          <a:xfrm>
            <a:off x="795528" y="1600200"/>
            <a:ext cx="197510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Repository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0F5043-7D2D-C65B-C62E-9D35314ACAC3}"/>
              </a:ext>
            </a:extLst>
          </p:cNvPr>
          <p:cNvSpPr txBox="1"/>
          <p:nvPr/>
        </p:nvSpPr>
        <p:spPr>
          <a:xfrm>
            <a:off x="3108960" y="1746504"/>
            <a:ext cx="8396935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CA" sz="1450" b="0" i="0" dirty="0">
                <a:solidFill>
                  <a:srgbClr val="1A1A1A"/>
                </a:solidFill>
                <a:latin typeface="Calibri"/>
              </a:rPr>
              <a:t>Git</a:t>
            </a:r>
            <a:r>
              <a:rPr sz="1450" b="0" i="0" dirty="0">
                <a:solidFill>
                  <a:srgbClr val="1A1A1A"/>
                </a:solidFill>
                <a:latin typeface="Calibri"/>
              </a:rPr>
              <a:t> clone checked out at the base commit — native git log / blame / diff work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70A9E5F-B12B-9459-6E00-4DEE97687FC3}"/>
              </a:ext>
            </a:extLst>
          </p:cNvPr>
          <p:cNvSpPr/>
          <p:nvPr/>
        </p:nvSpPr>
        <p:spPr>
          <a:xfrm>
            <a:off x="685800" y="2350008"/>
            <a:ext cx="2194560" cy="566928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2F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643A3-E82B-D9CA-72B9-615D9AD9EC9B}"/>
              </a:ext>
            </a:extLst>
          </p:cNvPr>
          <p:cNvSpPr txBox="1"/>
          <p:nvPr/>
        </p:nvSpPr>
        <p:spPr>
          <a:xfrm>
            <a:off x="795528" y="2350008"/>
            <a:ext cx="197510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History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BA46B3-F52F-CC61-D25B-313EF468A1E8}"/>
              </a:ext>
            </a:extLst>
          </p:cNvPr>
          <p:cNvSpPr txBox="1"/>
          <p:nvPr/>
        </p:nvSpPr>
        <p:spPr>
          <a:xfrm>
            <a:off x="3108960" y="2496312"/>
            <a:ext cx="8396935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CA" sz="1450" dirty="0">
                <a:solidFill>
                  <a:srgbClr val="1A1A1A"/>
                </a:solidFill>
                <a:latin typeface="Calibri"/>
              </a:rPr>
              <a:t>O</a:t>
            </a:r>
            <a:r>
              <a:rPr sz="1450" b="0" i="0" dirty="0" err="1">
                <a:solidFill>
                  <a:srgbClr val="1A1A1A"/>
                </a:solidFill>
                <a:latin typeface="Calibri"/>
              </a:rPr>
              <a:t>nly</a:t>
            </a:r>
            <a:r>
              <a:rPr sz="1450" b="0" i="0" dirty="0">
                <a:solidFill>
                  <a:srgbClr val="1A1A1A"/>
                </a:solidFill>
                <a:latin typeface="Calibri"/>
              </a:rPr>
              <a:t> ancestors of the base commit exist; nothing later is in the object store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C770C6D-5D7C-7D03-0E47-C62126592881}"/>
              </a:ext>
            </a:extLst>
          </p:cNvPr>
          <p:cNvSpPr/>
          <p:nvPr/>
        </p:nvSpPr>
        <p:spPr>
          <a:xfrm>
            <a:off x="685800" y="3099816"/>
            <a:ext cx="2194560" cy="566928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2F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5F98A0-1505-7965-C6AF-097BAA24EB40}"/>
              </a:ext>
            </a:extLst>
          </p:cNvPr>
          <p:cNvSpPr txBox="1"/>
          <p:nvPr/>
        </p:nvSpPr>
        <p:spPr>
          <a:xfrm>
            <a:off x="795528" y="3099816"/>
            <a:ext cx="197510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Issues &amp; PRs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42F8B0-1FB4-5EA1-34C9-40F5A0B235FA}"/>
              </a:ext>
            </a:extLst>
          </p:cNvPr>
          <p:cNvSpPr txBox="1"/>
          <p:nvPr/>
        </p:nvSpPr>
        <p:spPr>
          <a:xfrm>
            <a:off x="3108960" y="3246120"/>
            <a:ext cx="8396935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CA" sz="1450" b="0" i="0" dirty="0">
                <a:solidFill>
                  <a:srgbClr val="1A1A1A"/>
                </a:solidFill>
                <a:latin typeface="Calibri"/>
              </a:rPr>
              <a:t>Any issue/commit/PR in the repository before T (report time of the query)</a:t>
            </a:r>
            <a:endParaRPr sz="145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ADC2B5E-9E37-780C-DA3D-280AD6FE138A}"/>
              </a:ext>
            </a:extLst>
          </p:cNvPr>
          <p:cNvSpPr/>
          <p:nvPr/>
        </p:nvSpPr>
        <p:spPr>
          <a:xfrm>
            <a:off x="685800" y="3849624"/>
            <a:ext cx="2194560" cy="566928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2F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537A9B-6C57-FADB-82CA-8B623F170E9D}"/>
              </a:ext>
            </a:extLst>
          </p:cNvPr>
          <p:cNvSpPr txBox="1"/>
          <p:nvPr/>
        </p:nvSpPr>
        <p:spPr>
          <a:xfrm>
            <a:off x="795528" y="3849624"/>
            <a:ext cx="197510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Advisories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4562CC-C3EA-3835-D73B-23963D183898}"/>
              </a:ext>
            </a:extLst>
          </p:cNvPr>
          <p:cNvSpPr txBox="1"/>
          <p:nvPr/>
        </p:nvSpPr>
        <p:spPr>
          <a:xfrm>
            <a:off x="3108960" y="3995928"/>
            <a:ext cx="8396935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CA" sz="1450" b="0" i="0" dirty="0">
                <a:solidFill>
                  <a:srgbClr val="1A1A1A"/>
                </a:solidFill>
                <a:latin typeface="Calibri"/>
              </a:rPr>
              <a:t>CVE/CWE/GHSA definition lookup from the database</a:t>
            </a:r>
            <a:endParaRPr sz="145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CD1F875-DAAD-C43F-27C9-15E94DD0BBBD}"/>
              </a:ext>
            </a:extLst>
          </p:cNvPr>
          <p:cNvSpPr/>
          <p:nvPr/>
        </p:nvSpPr>
        <p:spPr>
          <a:xfrm>
            <a:off x="685800" y="4599432"/>
            <a:ext cx="2194560" cy="566928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2F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C8597-A2DF-B45D-EDD9-75C1B6CFEEA1}"/>
              </a:ext>
            </a:extLst>
          </p:cNvPr>
          <p:cNvSpPr txBox="1"/>
          <p:nvPr/>
        </p:nvSpPr>
        <p:spPr>
          <a:xfrm>
            <a:off x="795528" y="4599432"/>
            <a:ext cx="197510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Network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1137E6-9879-008F-F158-200A2A22227F}"/>
              </a:ext>
            </a:extLst>
          </p:cNvPr>
          <p:cNvSpPr txBox="1"/>
          <p:nvPr/>
        </p:nvSpPr>
        <p:spPr>
          <a:xfrm>
            <a:off x="3108960" y="4745736"/>
            <a:ext cx="83969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egress allowlist: model API + CVE resolution only; GitHub blocked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C1B5FB-2B28-6A37-D7B3-B8EF36CC7664}"/>
              </a:ext>
            </a:extLst>
          </p:cNvPr>
          <p:cNvSpPr txBox="1"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707070"/>
                </a:solidFill>
                <a:latin typeface="Calibri"/>
              </a:rPr>
              <a:t>The gold answer never enters the container; the thread it came from is excluded from the issue corpus.</a:t>
            </a:r>
          </a:p>
        </p:txBody>
      </p:sp>
    </p:spTree>
    <p:extLst>
      <p:ext uri="{BB962C8B-B14F-4D97-AF65-F5344CB8AC3E}">
        <p14:creationId xmlns:p14="http://schemas.microsoft.com/office/powerpoint/2010/main" val="2876688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02336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Two tool surfaces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87552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07070"/>
                </a:solidFill>
                <a:latin typeface="Calibri"/>
              </a:rPr>
              <a:t>The agent keeps its own tools; MCP supplies what is not on disk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5181447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1892808"/>
            <a:ext cx="4961991" cy="16209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1A1A1A"/>
                </a:solidFill>
                <a:latin typeface="Calibri"/>
              </a:rPr>
              <a:t>Agent's native tools</a:t>
            </a:r>
          </a:p>
          <a:p>
            <a:pPr algn="ctr">
              <a:spcBef>
                <a:spcPts val="400"/>
              </a:spcBef>
            </a:pPr>
            <a:endParaRPr sz="1600" b="1" i="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400" dirty="0">
                <a:solidFill>
                  <a:srgbClr val="707070"/>
                </a:solidFill>
                <a:latin typeface="Calibri"/>
              </a:rPr>
              <a:t>Read · Grep · Glob · Bash</a:t>
            </a:r>
          </a:p>
          <a:p>
            <a:pPr algn="ctr"/>
            <a:r>
              <a:rPr sz="1400" dirty="0">
                <a:solidFill>
                  <a:srgbClr val="707070"/>
                </a:solidFill>
                <a:latin typeface="Calibri"/>
              </a:rPr>
              <a:t>git log · git show · git blame</a:t>
            </a:r>
          </a:p>
          <a:p>
            <a:pPr algn="ctr"/>
            <a:endParaRPr sz="1400" dirty="0">
              <a:solidFill>
                <a:srgbClr val="707070"/>
              </a:solidFill>
              <a:latin typeface="Calibri"/>
            </a:endParaRPr>
          </a:p>
          <a:p>
            <a:pPr algn="ctr"/>
            <a:r>
              <a:rPr sz="1400" dirty="0">
                <a:solidFill>
                  <a:srgbClr val="707070"/>
                </a:solidFill>
                <a:latin typeface="Calibri"/>
              </a:rPr>
              <a:t>operate on the </a:t>
            </a:r>
            <a:r>
              <a:rPr lang="en-CA" sz="1400" dirty="0">
                <a:solidFill>
                  <a:srgbClr val="707070"/>
                </a:solidFill>
                <a:latin typeface="Calibri"/>
              </a:rPr>
              <a:t>repository</a:t>
            </a:r>
            <a:r>
              <a:rPr sz="1400" dirty="0">
                <a:solidFill>
                  <a:srgbClr val="707070"/>
                </a:solidFill>
                <a:latin typeface="Calibri"/>
              </a:rPr>
              <a:t> clone</a:t>
            </a:r>
          </a:p>
          <a:p>
            <a:pPr algn="ctr"/>
            <a:r>
              <a:rPr sz="1400" dirty="0">
                <a:solidFill>
                  <a:srgbClr val="707070"/>
                </a:solidFill>
                <a:latin typeface="Calibri"/>
              </a:rPr>
              <a:t>at /workspace/repo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1783080"/>
            <a:ext cx="5181447" cy="2743200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2F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34175" y="1892808"/>
            <a:ext cx="4961991" cy="2267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1A1A1A"/>
                </a:solidFill>
                <a:latin typeface="Calibri"/>
              </a:rPr>
              <a:t>MCP tools  (</a:t>
            </a:r>
            <a:r>
              <a:rPr sz="1600" b="1" i="0" dirty="0" err="1">
                <a:solidFill>
                  <a:srgbClr val="1A1A1A"/>
                </a:solidFill>
                <a:latin typeface="Calibri"/>
              </a:rPr>
              <a:t>secdevqa</a:t>
            </a:r>
            <a:r>
              <a:rPr sz="1600" b="1" i="0" dirty="0">
                <a:solidFill>
                  <a:srgbClr val="1A1A1A"/>
                </a:solidFill>
                <a:latin typeface="Calibri"/>
              </a:rPr>
              <a:t>)</a:t>
            </a:r>
          </a:p>
          <a:p>
            <a:pPr algn="ctr">
              <a:spcBef>
                <a:spcPts val="400"/>
              </a:spcBef>
            </a:pPr>
            <a:endParaRPr sz="1600" b="1" i="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400" dirty="0" err="1">
                <a:solidFill>
                  <a:schemeClr val="tx2">
                    <a:lumMod val="75000"/>
                  </a:schemeClr>
                </a:solidFill>
                <a:latin typeface="Calibri"/>
              </a:rPr>
              <a:t>search_issues</a:t>
            </a:r>
            <a:r>
              <a:rPr sz="1400" dirty="0">
                <a:solidFill>
                  <a:schemeClr val="tx2">
                    <a:lumMod val="75000"/>
                  </a:schemeClr>
                </a:solidFill>
                <a:latin typeface="Calibri"/>
              </a:rPr>
              <a:t> · </a:t>
            </a:r>
            <a:r>
              <a:rPr sz="1400" dirty="0" err="1">
                <a:solidFill>
                  <a:schemeClr val="tx2">
                    <a:lumMod val="75000"/>
                  </a:schemeClr>
                </a:solidFill>
                <a:latin typeface="Calibri"/>
              </a:rPr>
              <a:t>get_issue</a:t>
            </a:r>
            <a:endParaRPr sz="1400" dirty="0">
              <a:solidFill>
                <a:schemeClr val="tx2">
                  <a:lumMod val="75000"/>
                </a:schemeClr>
              </a:solidFill>
              <a:latin typeface="Calibri"/>
            </a:endParaRPr>
          </a:p>
          <a:p>
            <a:pPr algn="ctr"/>
            <a:r>
              <a:rPr sz="1400" dirty="0" err="1">
                <a:solidFill>
                  <a:schemeClr val="tx2">
                    <a:lumMod val="75000"/>
                  </a:schemeClr>
                </a:solidFill>
                <a:latin typeface="Calibri"/>
              </a:rPr>
              <a:t>search_prs</a:t>
            </a:r>
            <a:r>
              <a:rPr sz="1400" dirty="0">
                <a:solidFill>
                  <a:schemeClr val="tx2">
                    <a:lumMod val="75000"/>
                  </a:schemeClr>
                </a:solidFill>
                <a:latin typeface="Calibri"/>
              </a:rPr>
              <a:t> · </a:t>
            </a:r>
            <a:r>
              <a:rPr sz="1400" dirty="0" err="1">
                <a:solidFill>
                  <a:schemeClr val="tx2">
                    <a:lumMod val="75000"/>
                  </a:schemeClr>
                </a:solidFill>
                <a:latin typeface="Calibri"/>
              </a:rPr>
              <a:t>get_pr</a:t>
            </a:r>
            <a:endParaRPr lang="en-CA" sz="1400" dirty="0">
              <a:solidFill>
                <a:schemeClr val="tx2">
                  <a:lumMod val="75000"/>
                </a:schemeClr>
              </a:solidFill>
              <a:latin typeface="Calibri"/>
            </a:endParaRPr>
          </a:p>
          <a:p>
            <a:pPr algn="ctr"/>
            <a:endParaRPr sz="1400" dirty="0">
              <a:solidFill>
                <a:srgbClr val="707070"/>
              </a:solidFill>
              <a:latin typeface="Calibri"/>
            </a:endParaRPr>
          </a:p>
          <a:p>
            <a:pPr algn="ctr"/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Calibri"/>
              </a:rPr>
              <a:t>search_advisories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 ·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Calibri"/>
              </a:rPr>
              <a:t>get_advisory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 ·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Calibri"/>
              </a:rPr>
              <a:t>vuln_lookup</a:t>
            </a:r>
            <a:endParaRPr lang="en-CA" sz="1400" dirty="0">
              <a:solidFill>
                <a:schemeClr val="accent2">
                  <a:lumMod val="75000"/>
                </a:schemeClr>
              </a:solidFill>
              <a:latin typeface="Calibri"/>
            </a:endParaRPr>
          </a:p>
          <a:p>
            <a:pPr algn="ctr"/>
            <a:endParaRPr sz="1400" dirty="0">
              <a:solidFill>
                <a:srgbClr val="707070"/>
              </a:solidFill>
              <a:latin typeface="Calibri"/>
            </a:endParaRPr>
          </a:p>
          <a:p>
            <a:pPr algn="ctr"/>
            <a:r>
              <a:rPr sz="1400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read_file</a:t>
            </a:r>
            <a:r>
              <a:rPr sz="1400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· </a:t>
            </a:r>
            <a:r>
              <a:rPr sz="1400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search_code</a:t>
            </a:r>
            <a:r>
              <a:rPr sz="1400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· </a:t>
            </a:r>
            <a:r>
              <a:rPr sz="1400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git_log</a:t>
            </a:r>
            <a:r>
              <a:rPr sz="1400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· </a:t>
            </a:r>
            <a:r>
              <a:rPr sz="1400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git_show</a:t>
            </a:r>
            <a:endParaRPr sz="1400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  <a:p>
            <a:pPr algn="ctr"/>
            <a:endParaRPr sz="1400" dirty="0">
              <a:solidFill>
                <a:srgbClr val="707070"/>
              </a:solidFill>
              <a:latin typeface="Calibri"/>
            </a:endParaRPr>
          </a:p>
          <a:p>
            <a:pPr algn="ctr"/>
            <a:r>
              <a:rPr sz="1400" dirty="0">
                <a:solidFill>
                  <a:srgbClr val="707070"/>
                </a:solidFill>
                <a:latin typeface="Calibri"/>
              </a:rPr>
              <a:t>the only path to issues, PRs and advisories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02336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How answers are graded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87552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07070"/>
                </a:solidFill>
                <a:latin typeface="Calibri"/>
              </a:rPr>
              <a:t>Per-claim rubric judging, condition-aware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043684"/>
            <a:ext cx="73152" cy="73152"/>
          </a:xfrm>
          <a:prstGeom prst="ellipse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05256" y="1920240"/>
            <a:ext cx="53583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>
                <a:solidFill>
                  <a:srgbClr val="1A1A1A"/>
                </a:solidFill>
                <a:latin typeface="Calibri"/>
              </a:rPr>
              <a:t>Criteria drawn from the maintainer's reply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702052"/>
            <a:ext cx="73152" cy="73152"/>
          </a:xfrm>
          <a:prstGeom prst="ellipse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2578608"/>
            <a:ext cx="53583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Each criterion marked met / partial / not met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360420"/>
            <a:ext cx="73152" cy="73152"/>
          </a:xfrm>
          <a:prstGeom prst="ellipse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" y="3236976"/>
            <a:ext cx="53583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Two axes: correctness and completeness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4018788"/>
            <a:ext cx="73152" cy="73152"/>
          </a:xfrm>
          <a:prstGeom prst="ellipse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" y="3895344"/>
            <a:ext cx="53583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Item score = mean of gradeable criteria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600200"/>
            <a:ext cx="4785055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30568" y="1709928"/>
            <a:ext cx="4565599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Outcome per item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707070"/>
                </a:solidFill>
                <a:latin typeface="Calibri"/>
              </a:rPr>
              <a:t>correct · partial · incorrect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2624328"/>
            <a:ext cx="4785055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0568" y="2734056"/>
            <a:ext cx="4565599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Item score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707070"/>
                </a:solidFill>
                <a:latin typeface="Calibri"/>
              </a:rPr>
              <a:t>mean of gradeable criteria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648456"/>
            <a:ext cx="4785055" cy="1234440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2F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30568" y="3758184"/>
            <a:ext cx="4565599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Judge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707070"/>
                </a:solidFill>
                <a:latin typeface="Calibri"/>
              </a:rPr>
              <a:t>openai/gpt-5.5</a:t>
            </a:r>
          </a:p>
          <a:p>
            <a:pPr algn="ctr"/>
            <a:endParaRPr sz="1200">
              <a:solidFill>
                <a:srgbClr val="707070"/>
              </a:solidFill>
              <a:latin typeface="Calibri"/>
            </a:endParaRPr>
          </a:p>
          <a:p>
            <a:pPr algn="ctr"/>
            <a:r>
              <a:rPr sz="1200">
                <a:solidFill>
                  <a:srgbClr val="707070"/>
                </a:solidFill>
                <a:latin typeface="Calibri"/>
              </a:rPr>
              <a:t>always a different model</a:t>
            </a:r>
          </a:p>
          <a:p>
            <a:pPr algn="ctr"/>
            <a:r>
              <a:rPr sz="1200">
                <a:solidFill>
                  <a:srgbClr val="707070"/>
                </a:solidFill>
                <a:latin typeface="Calibri"/>
              </a:rPr>
              <a:t>from the one under 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02336"/>
            <a:ext cx="1082009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CA" sz="3000" b="1" i="0" dirty="0">
                <a:solidFill>
                  <a:srgbClr val="1A1A1A"/>
                </a:solidFill>
                <a:latin typeface="Calibri"/>
              </a:rPr>
              <a:t>Evaluation</a:t>
            </a:r>
            <a:endParaRPr sz="3000" b="1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2032345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55648"/>
            <a:ext cx="203234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F5C8F"/>
                </a:solidFill>
                <a:latin typeface="Calibr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313432"/>
            <a:ext cx="188604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security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2737" y="1600200"/>
            <a:ext cx="2032345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82737" y="1755648"/>
            <a:ext cx="203234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F5C8F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5889" y="2313432"/>
            <a:ext cx="188604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repositories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9674" y="1600200"/>
            <a:ext cx="2032345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79674" y="1755648"/>
            <a:ext cx="203234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F5C8F"/>
                </a:solidFill>
                <a:latin typeface="Calibri"/>
              </a:rPr>
              <a:t>23/3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2826" y="2313432"/>
            <a:ext cx="1886041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1150" b="0" i="0" dirty="0">
                <a:solidFill>
                  <a:srgbClr val="707070"/>
                </a:solidFill>
                <a:latin typeface="Calibri"/>
              </a:rPr>
              <a:t>contextual</a:t>
            </a:r>
            <a:r>
              <a:rPr sz="1150" b="0" i="0" dirty="0">
                <a:solidFill>
                  <a:srgbClr val="707070"/>
                </a:solidFill>
                <a:latin typeface="Calibri"/>
              </a:rPr>
              <a:t> / parametric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6611" y="1600200"/>
            <a:ext cx="2032345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76611" y="1755648"/>
            <a:ext cx="203234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F5C8F"/>
                </a:solidFill>
                <a:latin typeface="Calibri"/>
              </a:rPr>
              <a:t>31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9763" y="2313432"/>
            <a:ext cx="188604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wall clock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3548" y="1600200"/>
            <a:ext cx="2032345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73548" y="1755648"/>
            <a:ext cx="203234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F5C8F"/>
                </a:solidFill>
                <a:latin typeface="Calibri"/>
              </a:rPr>
              <a:t>$10.82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46700" y="2313432"/>
            <a:ext cx="188604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agent API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42900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07070"/>
                </a:solidFill>
                <a:latin typeface="Calibri"/>
              </a:rPr>
              <a:t>Queries per 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8404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kubernetes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3854196"/>
            <a:ext cx="50292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240280" y="3854196"/>
            <a:ext cx="502920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79208" y="38404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0172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ImageMagick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80" y="4030980"/>
            <a:ext cx="50292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240280" y="4030980"/>
            <a:ext cx="377190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79208" y="401726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19404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axios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40280" y="4207764"/>
            <a:ext cx="50292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240280" y="4207764"/>
            <a:ext cx="377190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79208" y="419404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37083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express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4384548"/>
            <a:ext cx="50292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240280" y="4384548"/>
            <a:ext cx="377190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79208" y="437083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54761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fastapi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4561332"/>
            <a:ext cx="50292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240280" y="4561332"/>
            <a:ext cx="251460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79208" y="45476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7244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litellm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40280" y="4738116"/>
            <a:ext cx="50292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240280" y="4738116"/>
            <a:ext cx="251460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79208" y="47244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490118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jenkins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40280" y="4914900"/>
            <a:ext cx="50292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240280" y="4914900"/>
            <a:ext cx="125730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79208" y="490118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07796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node-jsonwebtoken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40280" y="5091684"/>
            <a:ext cx="50292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240280" y="5091684"/>
            <a:ext cx="125730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79208" y="50779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2547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terraform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40280" y="5268468"/>
            <a:ext cx="50292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240280" y="5268468"/>
            <a:ext cx="125730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379208" y="52547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543153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keycloak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40280" y="5445252"/>
            <a:ext cx="50292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240280" y="5445252"/>
            <a:ext cx="125730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379208" y="543153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6083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requests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40280" y="5622036"/>
            <a:ext cx="50292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240280" y="5622036"/>
            <a:ext cx="125730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379208" y="56083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578510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cryptography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40280" y="5798820"/>
            <a:ext cx="50292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2240280" y="5798820"/>
            <a:ext cx="125730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379208" y="578510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596188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Pillow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40280" y="5975604"/>
            <a:ext cx="50292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240280" y="5975604"/>
            <a:ext cx="125730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379208" y="596188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61386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rails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40280" y="6152388"/>
            <a:ext cx="50292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240280" y="6152388"/>
            <a:ext cx="125730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379208" y="613867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63154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urllib3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40280" y="6329172"/>
            <a:ext cx="50292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2240280" y="6329172"/>
            <a:ext cx="125730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379208" y="631545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1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83879" y="3963837"/>
            <a:ext cx="3322016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293607" y="4073565"/>
            <a:ext cx="3102560" cy="170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Configuration</a:t>
            </a:r>
          </a:p>
          <a:p>
            <a:pPr algn="ctr">
              <a:spcBef>
                <a:spcPts val="400"/>
              </a:spcBef>
            </a:pPr>
            <a:endParaRPr sz="1300" b="1" i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300">
                <a:solidFill>
                  <a:srgbClr val="707070"/>
                </a:solidFill>
                <a:latin typeface="Calibri"/>
              </a:rPr>
              <a:t>agent: claude-opus-4-8</a:t>
            </a:r>
          </a:p>
          <a:p>
            <a:pPr algn="ctr"/>
            <a:r>
              <a:rPr sz="1300">
                <a:solidFill>
                  <a:srgbClr val="707070"/>
                </a:solidFill>
                <a:latin typeface="Calibri"/>
              </a:rPr>
              <a:t>condition: coding_agent_claude_code</a:t>
            </a:r>
          </a:p>
          <a:p>
            <a:pPr algn="ctr"/>
            <a:r>
              <a:rPr sz="1300">
                <a:solidFill>
                  <a:srgbClr val="707070"/>
                </a:solidFill>
                <a:latin typeface="Calibri"/>
              </a:rPr>
              <a:t>context: full snapshot</a:t>
            </a:r>
          </a:p>
          <a:p>
            <a:pPr algn="ctr"/>
            <a:r>
              <a:rPr sz="1300">
                <a:solidFill>
                  <a:srgbClr val="707070"/>
                </a:solidFill>
                <a:latin typeface="Calibri"/>
              </a:rPr>
              <a:t>web access: off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02336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Results —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87552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07070"/>
                </a:solidFill>
                <a:latin typeface="Calibri"/>
              </a:rPr>
              <a:t>Judged by openai/gpt-5.5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2581579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55648"/>
            <a:ext cx="25815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F5C8F"/>
                </a:solidFill>
                <a:latin typeface="Calibri"/>
              </a:rPr>
              <a:t>62%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313432"/>
            <a:ext cx="243527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correct (16/26)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1971" y="1600200"/>
            <a:ext cx="2581579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31971" y="1755648"/>
            <a:ext cx="25815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F5C8F"/>
                </a:solidFill>
                <a:latin typeface="Calibri"/>
              </a:rPr>
              <a:t>27%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5123" y="2313432"/>
            <a:ext cx="243527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partial (7/26)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2" y="1600200"/>
            <a:ext cx="2581579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8142" y="1755648"/>
            <a:ext cx="25815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F5C8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1294" y="2313432"/>
            <a:ext cx="243527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incorrect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24313" y="1600200"/>
            <a:ext cx="2581579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24313" y="1755648"/>
            <a:ext cx="25815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F5C8F"/>
                </a:solidFill>
                <a:latin typeface="Calibri"/>
              </a:rPr>
              <a:t>0.68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465" y="2313432"/>
            <a:ext cx="243527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mean item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2900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07070"/>
                </a:solidFill>
                <a:latin typeface="Calibri"/>
              </a:rPr>
              <a:t>Rubric criteria verdicts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404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met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20" y="3854196"/>
            <a:ext cx="45720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74520" y="3854196"/>
            <a:ext cx="457200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8" y="38404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44  (62%)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4074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partial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20" y="4421124"/>
            <a:ext cx="45720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874520" y="4421124"/>
            <a:ext cx="103909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6248" y="44074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10  (14%)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7433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not met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74520" y="4988052"/>
            <a:ext cx="45720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874520" y="4988052"/>
            <a:ext cx="1766454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56248" y="497433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17  (24%)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3721608"/>
            <a:ext cx="3322016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93607" y="3831336"/>
            <a:ext cx="3102560" cy="119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Score by axis</a:t>
            </a:r>
          </a:p>
          <a:p>
            <a:pPr algn="ctr">
              <a:spcBef>
                <a:spcPts val="400"/>
              </a:spcBef>
            </a:pPr>
            <a:endParaRPr sz="1300" b="1" i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500">
                <a:solidFill>
                  <a:srgbClr val="707070"/>
                </a:solidFill>
                <a:latin typeface="Calibri"/>
              </a:rPr>
              <a:t>correctness   0.75</a:t>
            </a:r>
          </a:p>
          <a:p>
            <a:pPr algn="ctr"/>
            <a:r>
              <a:rPr sz="1500">
                <a:solidFill>
                  <a:srgbClr val="707070"/>
                </a:solidFill>
                <a:latin typeface="Calibri"/>
              </a:rPr>
              <a:t>completeness  0.53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07070"/>
                </a:solidFill>
                <a:latin typeface="Calibri"/>
              </a:rPr>
              <a:t>71 rubric criteria graded across 26 items. Completeness applies to the 17 items carrying completeness criteria.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02336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Results — which criteria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87552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07070"/>
                </a:solidFill>
                <a:latin typeface="Calibri"/>
              </a:rPr>
              <a:t>Every rubric criterion, by what the answer must produce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1848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07070"/>
                </a:solidFill>
                <a:latin typeface="Calibri"/>
              </a:rPr>
              <a:t>Criteria met — by the artifact referenced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99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prior issue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2043684"/>
            <a:ext cx="36576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23160" y="2043684"/>
            <a:ext cx="91440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90488" y="202996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25%  (1/4)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1858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PR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2432304"/>
            <a:ext cx="36576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23160" y="2432304"/>
            <a:ext cx="146304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0488" y="241858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40%  (2/5)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0720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advisory / CVE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2820924"/>
            <a:ext cx="36576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23160" y="2820924"/>
            <a:ext cx="2090057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280720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57%  (4/7)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1958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self-contained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3209544"/>
            <a:ext cx="36576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3160" y="3209544"/>
            <a:ext cx="2372497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90488" y="319582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65%  (24/37)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58444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commit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3598164"/>
            <a:ext cx="36576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23160" y="3598164"/>
            <a:ext cx="243840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0488" y="358444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67%  (2/3)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9730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version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3986784"/>
            <a:ext cx="365760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423160" y="3986784"/>
            <a:ext cx="2682239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90488" y="397306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73%  (11/15)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66344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07070"/>
                </a:solidFill>
                <a:latin typeface="Calibri"/>
              </a:rPr>
              <a:t>Criteria met — by axis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0749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correctness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23160" y="5088636"/>
            <a:ext cx="3657600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423160" y="5088636"/>
            <a:ext cx="2590799" cy="256032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90488" y="50749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71%  (34/48)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5092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completeness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23160" y="5522976"/>
            <a:ext cx="3657600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423160" y="5522976"/>
            <a:ext cx="1590260" cy="256032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90488" y="55092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43%  (10/23)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79" y="2002536"/>
            <a:ext cx="3322016" cy="1965960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2F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93607" y="2112264"/>
            <a:ext cx="3102560" cy="1682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>
                <a:solidFill>
                  <a:srgbClr val="1A1A1A"/>
                </a:solidFill>
                <a:latin typeface="Calibri"/>
              </a:rPr>
              <a:t>The pattern</a:t>
            </a:r>
          </a:p>
          <a:p>
            <a:pPr algn="ctr">
              <a:spcBef>
                <a:spcPts val="400"/>
              </a:spcBef>
            </a:pPr>
            <a:endParaRPr sz="1400" b="1" i="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300" dirty="0">
                <a:solidFill>
                  <a:srgbClr val="707070"/>
                </a:solidFill>
                <a:latin typeface="Calibri"/>
              </a:rPr>
              <a:t>The agent diagnoses the</a:t>
            </a:r>
          </a:p>
          <a:p>
            <a:pPr algn="ctr"/>
            <a:r>
              <a:rPr lang="en-CA" sz="1300" dirty="0">
                <a:solidFill>
                  <a:srgbClr val="707070"/>
                </a:solidFill>
                <a:latin typeface="Calibri"/>
              </a:rPr>
              <a:t>v</a:t>
            </a:r>
            <a:r>
              <a:rPr sz="1300" dirty="0" err="1">
                <a:solidFill>
                  <a:srgbClr val="707070"/>
                </a:solidFill>
                <a:latin typeface="Calibri"/>
              </a:rPr>
              <a:t>ulnerability</a:t>
            </a:r>
            <a:r>
              <a:rPr lang="en-CA" sz="1300" dirty="0">
                <a:solidFill>
                  <a:srgbClr val="707070"/>
                </a:solidFill>
                <a:latin typeface="Calibri"/>
              </a:rPr>
              <a:t> and works well for code related queries</a:t>
            </a:r>
            <a:r>
              <a:rPr sz="1300" dirty="0">
                <a:solidFill>
                  <a:srgbClr val="707070"/>
                </a:solidFill>
                <a:latin typeface="Calibri"/>
              </a:rPr>
              <a:t>, </a:t>
            </a:r>
            <a:r>
              <a:rPr lang="en-CA" sz="1300" dirty="0">
                <a:solidFill>
                  <a:srgbClr val="707070"/>
                </a:solidFill>
                <a:latin typeface="Calibri"/>
              </a:rPr>
              <a:t>but</a:t>
            </a:r>
            <a:r>
              <a:rPr sz="1300" dirty="0">
                <a:solidFill>
                  <a:srgbClr val="707070"/>
                </a:solidFill>
                <a:latin typeface="Calibri"/>
              </a:rPr>
              <a:t> cannot</a:t>
            </a:r>
            <a:r>
              <a:rPr lang="en-CA" sz="1300" dirty="0">
                <a:solidFill>
                  <a:srgbClr val="707070"/>
                </a:solidFill>
                <a:latin typeface="Calibri"/>
              </a:rPr>
              <a:t> accurately</a:t>
            </a:r>
            <a:endParaRPr sz="1300" dirty="0">
              <a:solidFill>
                <a:srgbClr val="707070"/>
              </a:solidFill>
              <a:latin typeface="Calibri"/>
            </a:endParaRPr>
          </a:p>
          <a:p>
            <a:pPr algn="ctr"/>
            <a:r>
              <a:rPr sz="1300" dirty="0">
                <a:solidFill>
                  <a:srgbClr val="707070"/>
                </a:solidFill>
                <a:latin typeface="Calibri"/>
              </a:rPr>
              <a:t>name the specific prior</a:t>
            </a:r>
          </a:p>
          <a:p>
            <a:pPr algn="ctr"/>
            <a:r>
              <a:rPr sz="1300" dirty="0">
                <a:solidFill>
                  <a:srgbClr val="707070"/>
                </a:solidFill>
                <a:latin typeface="Calibri"/>
              </a:rPr>
              <a:t>issue or PR the maintainer</a:t>
            </a:r>
          </a:p>
          <a:p>
            <a:pPr algn="ctr"/>
            <a:r>
              <a:rPr sz="1300" dirty="0">
                <a:solidFill>
                  <a:srgbClr val="707070"/>
                </a:solidFill>
                <a:latin typeface="Calibri"/>
              </a:rPr>
              <a:t>pointed to as the resolution.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79" y="4114800"/>
            <a:ext cx="3322016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93607" y="4224528"/>
            <a:ext cx="3102560" cy="1282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>
                <a:solidFill>
                  <a:srgbClr val="1A1A1A"/>
                </a:solidFill>
                <a:latin typeface="Calibri"/>
              </a:rPr>
              <a:t>Hardest</a:t>
            </a:r>
          </a:p>
          <a:p>
            <a:pPr algn="ctr">
              <a:spcBef>
                <a:spcPts val="400"/>
              </a:spcBef>
            </a:pPr>
            <a:endParaRPr sz="1400" b="1" i="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300" dirty="0">
                <a:solidFill>
                  <a:srgbClr val="707070"/>
                </a:solidFill>
                <a:latin typeface="Calibri"/>
              </a:rPr>
              <a:t>References to a prior issue</a:t>
            </a:r>
          </a:p>
          <a:p>
            <a:pPr algn="ctr"/>
            <a:r>
              <a:rPr sz="1300" dirty="0">
                <a:solidFill>
                  <a:srgbClr val="707070"/>
                </a:solidFill>
                <a:latin typeface="Calibri"/>
              </a:rPr>
              <a:t>or PR fail most — they live</a:t>
            </a:r>
          </a:p>
          <a:p>
            <a:pPr algn="ctr"/>
            <a:r>
              <a:rPr sz="1300" dirty="0">
                <a:solidFill>
                  <a:srgbClr val="707070"/>
                </a:solidFill>
                <a:latin typeface="Calibri"/>
              </a:rPr>
              <a:t>only in the project's own</a:t>
            </a:r>
          </a:p>
          <a:p>
            <a:pPr algn="ctr"/>
            <a:r>
              <a:rPr sz="1300" dirty="0">
                <a:solidFill>
                  <a:srgbClr val="707070"/>
                </a:solidFill>
                <a:latin typeface="Calibri"/>
              </a:rPr>
              <a:t>history, not in code</a:t>
            </a:r>
            <a:r>
              <a:rPr lang="en-CA" sz="1300" dirty="0">
                <a:solidFill>
                  <a:srgbClr val="707070"/>
                </a:solidFill>
                <a:latin typeface="Calibri"/>
              </a:rPr>
              <a:t>.</a:t>
            </a:r>
            <a:endParaRPr sz="1300" dirty="0">
              <a:solidFill>
                <a:srgbClr val="70707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02336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Results — tool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87552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07070"/>
                </a:solidFill>
                <a:latin typeface="Calibri"/>
              </a:rPr>
              <a:t>What the agent actually consulted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2581579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55648"/>
            <a:ext cx="25815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F5C8F"/>
                </a:solidFill>
                <a:latin typeface="Calibri"/>
              </a:rPr>
              <a:t>295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313432"/>
            <a:ext cx="243527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tool calls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1971" y="1600200"/>
            <a:ext cx="2581579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31971" y="1755648"/>
            <a:ext cx="25815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F5C8F"/>
                </a:solidFill>
                <a:latin typeface="Calibri"/>
              </a:rPr>
              <a:t>11.3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5123" y="2313432"/>
            <a:ext cx="243527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mean per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2" y="1600200"/>
            <a:ext cx="2581579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8142" y="1755648"/>
            <a:ext cx="25815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F5C8F"/>
                </a:solidFill>
                <a:latin typeface="Calibri"/>
              </a:rPr>
              <a:t>2–30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1294" y="2313432"/>
            <a:ext cx="243527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range per 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24313" y="1600200"/>
            <a:ext cx="2581579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24313" y="1755648"/>
            <a:ext cx="25815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F5C8F"/>
                </a:solidFill>
                <a:latin typeface="Calibri"/>
              </a:rPr>
              <a:t>12.4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465" y="2313432"/>
            <a:ext cx="243527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mean agent 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2900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07070"/>
                </a:solidFill>
                <a:latin typeface="Calibri"/>
              </a:rPr>
              <a:t>MCP calls by artifact 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404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issues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3854196"/>
            <a:ext cx="512064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057400" y="3854196"/>
            <a:ext cx="512064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87768" y="38404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434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400" y="4357116"/>
            <a:ext cx="512064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57400" y="4357116"/>
            <a:ext cx="3209953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87768" y="43434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463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advisory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57400" y="4860036"/>
            <a:ext cx="512064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057400" y="4860036"/>
            <a:ext cx="2369251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87768" y="4846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349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prs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57400" y="5362956"/>
            <a:ext cx="512064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057400" y="5362956"/>
            <a:ext cx="1375694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87768" y="5349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8521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commits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57400" y="5865876"/>
            <a:ext cx="512064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057400" y="5865876"/>
            <a:ext cx="917129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87768" y="5852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12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79" y="3721608"/>
            <a:ext cx="3322016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93607" y="3831336"/>
            <a:ext cx="3102560" cy="1380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Split</a:t>
            </a:r>
          </a:p>
          <a:p>
            <a:pPr algn="ctr">
              <a:spcBef>
                <a:spcPts val="400"/>
              </a:spcBef>
            </a:pPr>
            <a:endParaRPr sz="1300" b="1" i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300">
                <a:solidFill>
                  <a:srgbClr val="707070"/>
                </a:solidFill>
                <a:latin typeface="Calibri"/>
              </a:rPr>
              <a:t>MCP snapshot tools      170</a:t>
            </a:r>
          </a:p>
          <a:p>
            <a:pPr algn="ctr"/>
            <a:r>
              <a:rPr sz="1300">
                <a:solidFill>
                  <a:srgbClr val="707070"/>
                </a:solidFill>
                <a:latin typeface="Calibri"/>
              </a:rPr>
              <a:t>agent's own tools          125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07070"/>
                </a:solidFill>
                <a:latin typeface="Calibri"/>
              </a:rPr>
              <a:t>Every query used at least one MCP call — the snapshot corpora are not reachable any other way.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02336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Results — which tools were called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87552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07070"/>
                </a:solidFill>
                <a:latin typeface="Calibri"/>
              </a:rPr>
              <a:t>295 calls across 14 distinct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5C8F"/>
                </a:solidFill>
                <a:latin typeface="Calibri"/>
              </a:rPr>
              <a:t>MCP snapshot tools  (170)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search_issues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25396"/>
            <a:ext cx="4297680" cy="17373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377440" y="2025396"/>
            <a:ext cx="2822357" cy="173736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84848" y="201168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22576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search_code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336292"/>
            <a:ext cx="4297680" cy="17373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77440" y="2336292"/>
            <a:ext cx="2501634" cy="173736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84848" y="23225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33472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get_issue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647188"/>
            <a:ext cx="4297680" cy="17373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77440" y="2647188"/>
            <a:ext cx="1475322" cy="173736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84848" y="263347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4436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search_prs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958084"/>
            <a:ext cx="4297680" cy="17373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77440" y="2958084"/>
            <a:ext cx="769733" cy="173736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84848" y="294436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25526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vuln_lookup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3268980"/>
            <a:ext cx="4297680" cy="17373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377440" y="3268980"/>
            <a:ext cx="705589" cy="173736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84848" y="32552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5661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search_advisories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579876"/>
            <a:ext cx="4297680" cy="17373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377440" y="3579876"/>
            <a:ext cx="705589" cy="173736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84848" y="356616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877056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get_advisory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890772"/>
            <a:ext cx="4297680" cy="17373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77440" y="3890772"/>
            <a:ext cx="577300" cy="173736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84848" y="387705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187952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git_show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4201668"/>
            <a:ext cx="4297680" cy="17373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377440" y="4201668"/>
            <a:ext cx="513155" cy="173736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84848" y="41879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49884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get_pr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4512564"/>
            <a:ext cx="4297680" cy="17373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377440" y="4512564"/>
            <a:ext cx="384866" cy="173736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84848" y="449884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480974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git_log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0" y="4823460"/>
            <a:ext cx="4297680" cy="17373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377440" y="4823460"/>
            <a:ext cx="256577" cy="173736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84848" y="480974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12064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read_file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77440" y="5134356"/>
            <a:ext cx="4297680" cy="17373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377440" y="5134356"/>
            <a:ext cx="192433" cy="173736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84848" y="5120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1600200"/>
            <a:ext cx="3870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5C8F"/>
                </a:solidFill>
                <a:latin typeface="Calibri"/>
              </a:rPr>
              <a:t>Agent's own tools  (125)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0116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Bash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06840" y="2025396"/>
            <a:ext cx="2087575" cy="17373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006840" y="2025396"/>
            <a:ext cx="2087575" cy="173736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204143" y="201168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67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32257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ToolSearch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6840" y="2336292"/>
            <a:ext cx="2087575" cy="17373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006840" y="2336292"/>
            <a:ext cx="1339786" cy="173736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204143" y="23225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43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26334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Read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06840" y="2647188"/>
            <a:ext cx="2087575" cy="17373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006840" y="2647188"/>
            <a:ext cx="467367" cy="173736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1204143" y="263347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227832"/>
            <a:ext cx="3870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5C8F"/>
                </a:solidFill>
                <a:latin typeface="Calibri"/>
              </a:rPr>
              <a:t>What Bash runs  (67 calls)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635240" y="3538728"/>
            <a:ext cx="3870655" cy="1572768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763256" y="3639312"/>
            <a:ext cx="3614623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git tag --contains &lt;fix_sha&gt;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git log --oneline -5 -- coders/heic.c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git describe --tags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grep '"version"' package.json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grep -rn "freebsd|solaris" hack/*.sh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grep -nE "^4\.21|semver lock" History.md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35240" y="5202936"/>
            <a:ext cx="3870655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dirty="0">
                <a:solidFill>
                  <a:srgbClr val="707070"/>
                </a:solidFill>
                <a:latin typeface="Calibri"/>
              </a:rPr>
              <a:t>mostly release archaeology — tags, ancestry,</a:t>
            </a:r>
            <a:r>
              <a:rPr lang="en-CA" sz="1150" b="0" i="0" dirty="0">
                <a:solidFill>
                  <a:srgbClr val="707070"/>
                </a:solidFill>
                <a:latin typeface="Calibri"/>
              </a:rPr>
              <a:t> </a:t>
            </a:r>
            <a:r>
              <a:rPr sz="1150" b="0" i="0" dirty="0">
                <a:solidFill>
                  <a:srgbClr val="707070"/>
                </a:solidFill>
                <a:latin typeface="Calibri"/>
              </a:rPr>
              <a:t>manifests and changelogs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07070"/>
                </a:solidFill>
                <a:latin typeface="Calibri"/>
              </a:rPr>
              <a:t>ToolSearch is claude-code's own tool-discovery step, not project investigation. Bash reaches for git metadata the MCP tools do not expose.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02336"/>
            <a:ext cx="1082009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CA" sz="3000" b="1" i="0" dirty="0">
                <a:solidFill>
                  <a:srgbClr val="1A1A1A"/>
                </a:solidFill>
                <a:latin typeface="Calibri"/>
              </a:rPr>
              <a:t>Observations</a:t>
            </a:r>
            <a:endParaRPr sz="3000" b="1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Oval 2"/>
          <p:cNvSpPr/>
          <p:nvPr/>
        </p:nvSpPr>
        <p:spPr>
          <a:xfrm>
            <a:off x="685800" y="1632204"/>
            <a:ext cx="73152" cy="73152"/>
          </a:xfrm>
          <a:prstGeom prst="ellipse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5256" y="1508760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 dirty="0">
                <a:solidFill>
                  <a:srgbClr val="1A1A1A"/>
                </a:solidFill>
                <a:latin typeface="Calibri"/>
              </a:rPr>
              <a:t>Diagnosis is strong, attribution is weak — correctness axis 0.75 vs completeness 0.53.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500884"/>
            <a:ext cx="73152" cy="73152"/>
          </a:xfrm>
          <a:prstGeom prst="ellipse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5256" y="2377440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Calibri"/>
              </a:rPr>
              <a:t>Failures cluster on criteria that name a specific prior artifact — prior issue references are met only 25% of the time.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369564"/>
            <a:ext cx="73152" cy="73152"/>
          </a:xfrm>
          <a:prstGeom prst="ellipse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3246120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Calibri"/>
              </a:rPr>
              <a:t>Effort varies widely: 2–30 tool calls and up to 31 turns per query.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4238244"/>
            <a:ext cx="73152" cy="73152"/>
          </a:xfrm>
          <a:prstGeom prst="ellipse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" y="4114800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Calibri"/>
              </a:rPr>
              <a:t>Few answers are fully wrong; failures are omissions and mis-attributions, not misdiagnoses.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07070"/>
                </a:solidFill>
                <a:latin typeface="Calibri"/>
              </a:rPr>
              <a:t>26 queries · two sweeps pooled · judge openai/gpt-5.5 — indicative, not yet statistically powered.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02336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5181447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389888"/>
            <a:ext cx="4961991" cy="183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1A1A1A"/>
                </a:solidFill>
                <a:latin typeface="Calibri"/>
              </a:rPr>
              <a:t>Limitations</a:t>
            </a:r>
          </a:p>
          <a:p>
            <a:pPr algn="ctr">
              <a:spcBef>
                <a:spcPts val="400"/>
              </a:spcBef>
            </a:pPr>
            <a:endParaRPr sz="1600" b="1" i="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en-CA" sz="1400" dirty="0">
                <a:solidFill>
                  <a:srgbClr val="707070"/>
                </a:solidFill>
                <a:latin typeface="Calibri"/>
              </a:rPr>
              <a:t>Only </a:t>
            </a:r>
            <a:r>
              <a:rPr sz="1400" dirty="0">
                <a:solidFill>
                  <a:srgbClr val="707070"/>
                </a:solidFill>
                <a:latin typeface="Calibri"/>
              </a:rPr>
              <a:t>26 queries, one run, one judge</a:t>
            </a:r>
          </a:p>
          <a:p>
            <a:pPr algn="ctr"/>
            <a:endParaRPr lang="en-CA" sz="1400" dirty="0">
              <a:solidFill>
                <a:srgbClr val="707070"/>
              </a:solidFill>
              <a:latin typeface="Calibri"/>
            </a:endParaRPr>
          </a:p>
          <a:p>
            <a:pPr algn="ctr"/>
            <a:r>
              <a:rPr lang="en-CA" sz="1400" dirty="0">
                <a:solidFill>
                  <a:srgbClr val="707070"/>
                </a:solidFill>
                <a:latin typeface="Calibri"/>
              </a:rPr>
              <a:t>Some questions require consulting other repos, but the current setting does not allow it</a:t>
            </a:r>
            <a:endParaRPr sz="1400" dirty="0">
              <a:solidFill>
                <a:srgbClr val="707070"/>
              </a:solidFill>
              <a:latin typeface="Calibri"/>
            </a:endParaRPr>
          </a:p>
          <a:p>
            <a:pPr algn="ctr"/>
            <a:endParaRPr sz="1400" dirty="0">
              <a:solidFill>
                <a:srgbClr val="707070"/>
              </a:solidFill>
              <a:latin typeface="Calibri"/>
            </a:endParaRPr>
          </a:p>
          <a:p>
            <a:pPr algn="ctr"/>
            <a:r>
              <a:rPr lang="en-CA" sz="1400" dirty="0">
                <a:solidFill>
                  <a:srgbClr val="707070"/>
                </a:solidFill>
                <a:latin typeface="Calibri"/>
              </a:rPr>
              <a:t>S</a:t>
            </a:r>
            <a:r>
              <a:rPr sz="1400" dirty="0">
                <a:solidFill>
                  <a:srgbClr val="707070"/>
                </a:solidFill>
                <a:latin typeface="Calibri"/>
              </a:rPr>
              <a:t>ingle judge, no human </a:t>
            </a:r>
            <a:r>
              <a:rPr sz="1400" dirty="0" err="1">
                <a:solidFill>
                  <a:srgbClr val="707070"/>
                </a:solidFill>
                <a:latin typeface="Calibri"/>
              </a:rPr>
              <a:t>κ</a:t>
            </a:r>
            <a:r>
              <a:rPr sz="1400" dirty="0">
                <a:solidFill>
                  <a:srgbClr val="707070"/>
                </a:solidFill>
                <a:latin typeface="Calibri"/>
              </a:rPr>
              <a:t> yet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4447" y="1280160"/>
            <a:ext cx="5181447" cy="3291840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2F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34175" y="1389888"/>
            <a:ext cx="4961991" cy="2482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1A1A1A"/>
                </a:solidFill>
                <a:latin typeface="Calibri"/>
              </a:rPr>
              <a:t>Next</a:t>
            </a:r>
          </a:p>
          <a:p>
            <a:pPr algn="ctr">
              <a:spcBef>
                <a:spcPts val="400"/>
              </a:spcBef>
            </a:pPr>
            <a:endParaRPr sz="1600" b="1" i="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400" dirty="0">
                <a:solidFill>
                  <a:srgbClr val="707070"/>
                </a:solidFill>
                <a:latin typeface="Calibri"/>
              </a:rPr>
              <a:t>full benchmark, all conditions</a:t>
            </a:r>
          </a:p>
          <a:p>
            <a:pPr algn="ctr"/>
            <a:endParaRPr sz="1400" dirty="0">
              <a:solidFill>
                <a:srgbClr val="707070"/>
              </a:solidFill>
              <a:latin typeface="Calibri"/>
            </a:endParaRPr>
          </a:p>
          <a:p>
            <a:pPr algn="ctr"/>
            <a:r>
              <a:rPr sz="1400" dirty="0">
                <a:solidFill>
                  <a:srgbClr val="707070"/>
                </a:solidFill>
                <a:latin typeface="Calibri"/>
              </a:rPr>
              <a:t>bare LLM and snapshot agent</a:t>
            </a:r>
          </a:p>
          <a:p>
            <a:pPr algn="ctr"/>
            <a:r>
              <a:rPr sz="1400" dirty="0">
                <a:solidFill>
                  <a:srgbClr val="707070"/>
                </a:solidFill>
                <a:latin typeface="Calibri"/>
              </a:rPr>
              <a:t>for comparison</a:t>
            </a:r>
          </a:p>
          <a:p>
            <a:pPr algn="ctr"/>
            <a:endParaRPr sz="1400" dirty="0">
              <a:solidFill>
                <a:srgbClr val="707070"/>
              </a:solidFill>
              <a:latin typeface="Calibri"/>
            </a:endParaRPr>
          </a:p>
          <a:p>
            <a:pPr algn="ctr"/>
            <a:r>
              <a:rPr sz="1400" dirty="0">
                <a:solidFill>
                  <a:srgbClr val="707070"/>
                </a:solidFill>
                <a:latin typeface="Calibri"/>
              </a:rPr>
              <a:t>selective provision (leave-one-out)</a:t>
            </a:r>
          </a:p>
          <a:p>
            <a:pPr algn="ctr"/>
            <a:r>
              <a:rPr sz="1400" dirty="0">
                <a:solidFill>
                  <a:srgbClr val="707070"/>
                </a:solidFill>
                <a:latin typeface="Calibri"/>
              </a:rPr>
              <a:t>for artifact attribution</a:t>
            </a:r>
            <a:endParaRPr lang="en-CA" sz="1400" dirty="0">
              <a:solidFill>
                <a:srgbClr val="707070"/>
              </a:solidFill>
              <a:latin typeface="Calibri"/>
            </a:endParaRPr>
          </a:p>
          <a:p>
            <a:pPr algn="ctr"/>
            <a:endParaRPr lang="en-CA" sz="1400" dirty="0">
              <a:solidFill>
                <a:srgbClr val="707070"/>
              </a:solidFill>
              <a:latin typeface="Calibri"/>
            </a:endParaRPr>
          </a:p>
          <a:p>
            <a:pPr algn="ctr"/>
            <a:r>
              <a:rPr lang="en-CA" sz="1400" dirty="0">
                <a:solidFill>
                  <a:srgbClr val="707070"/>
                </a:solidFill>
                <a:latin typeface="Calibri"/>
              </a:rPr>
              <a:t>????????????????????</a:t>
            </a:r>
            <a:endParaRPr sz="1400" dirty="0">
              <a:solidFill>
                <a:srgbClr val="70707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02336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Results — cost and latency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87552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07070"/>
                </a:solidFill>
                <a:latin typeface="Calibri"/>
              </a:rPr>
              <a:t>Per query, and for the whole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2581579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55648"/>
            <a:ext cx="25815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F5C8F"/>
                </a:solidFill>
                <a:latin typeface="Calibri"/>
              </a:rPr>
              <a:t>222k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313432"/>
            <a:ext cx="243527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input + output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1971" y="1600200"/>
            <a:ext cx="2581579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31971" y="1755648"/>
            <a:ext cx="25815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F5C8F"/>
                </a:solidFill>
                <a:latin typeface="Calibri"/>
              </a:rPr>
              <a:t>4.47M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5123" y="2313432"/>
            <a:ext cx="243527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cache-read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2" y="1600200"/>
            <a:ext cx="2581579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8142" y="1755648"/>
            <a:ext cx="25815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F5C8F"/>
                </a:solidFill>
                <a:latin typeface="Calibri"/>
              </a:rPr>
              <a:t>$0.42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1294" y="2313432"/>
            <a:ext cx="243527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agent cost per 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24313" y="1600200"/>
            <a:ext cx="2581579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24313" y="1755648"/>
            <a:ext cx="25815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F5C8F"/>
                </a:solidFill>
                <a:latin typeface="Calibri"/>
              </a:rPr>
              <a:t>71s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465" y="2313432"/>
            <a:ext cx="243527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707070"/>
                </a:solidFill>
                <a:latin typeface="Calibri"/>
              </a:rPr>
              <a:t>mean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2900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07070"/>
                </a:solidFill>
                <a:latin typeface="Calibri"/>
              </a:rPr>
              <a:t>Latency per query (seconds)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404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median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3854196"/>
            <a:ext cx="493776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965960" y="3854196"/>
            <a:ext cx="2065797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13448" y="38404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64s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4074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mean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5960" y="4421124"/>
            <a:ext cx="493776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965960" y="4421124"/>
            <a:ext cx="232335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13448" y="440740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71s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7433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slowest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65960" y="4988052"/>
            <a:ext cx="4937760" cy="20116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965960" y="4988052"/>
            <a:ext cx="4937760" cy="201168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13448" y="497433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07070"/>
                </a:solidFill>
                <a:latin typeface="Calibri"/>
              </a:rPr>
              <a:t>152s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3721608"/>
            <a:ext cx="3322016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93607" y="3831336"/>
            <a:ext cx="3102560" cy="1380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Totals</a:t>
            </a:r>
          </a:p>
          <a:p>
            <a:pPr algn="ctr">
              <a:spcBef>
                <a:spcPts val="400"/>
              </a:spcBef>
            </a:pPr>
            <a:endParaRPr sz="1300" b="1" i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300">
                <a:solidFill>
                  <a:srgbClr val="707070"/>
                </a:solidFill>
                <a:latin typeface="Calibri"/>
              </a:rPr>
              <a:t>31 min wall clock</a:t>
            </a:r>
          </a:p>
          <a:p>
            <a:pPr algn="ctr"/>
            <a:r>
              <a:rPr sz="1300">
                <a:solidFill>
                  <a:srgbClr val="707070"/>
                </a:solidFill>
                <a:latin typeface="Calibri"/>
              </a:rPr>
              <a:t>$10.82 across 26 queries</a:t>
            </a:r>
          </a:p>
          <a:p>
            <a:pPr algn="ctr"/>
            <a:r>
              <a:rPr sz="1300">
                <a:solidFill>
                  <a:srgbClr val="707070"/>
                </a:solidFill>
                <a:latin typeface="Calibri"/>
              </a:rPr>
              <a:t>~319 words per answer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291072"/>
            <a:ext cx="1082009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707070"/>
                </a:solidFill>
                <a:latin typeface="Calibri"/>
              </a:rPr>
              <a:t>Agent only (claude-haiku-4-5-20251001 + claude-opus-4-8) — grading by </a:t>
            </a:r>
            <a:r>
              <a:rPr sz="1050" b="0" i="0" dirty="0" err="1">
                <a:solidFill>
                  <a:srgbClr val="707070"/>
                </a:solidFill>
                <a:latin typeface="Calibri"/>
              </a:rPr>
              <a:t>openai</a:t>
            </a:r>
            <a:r>
              <a:rPr sz="1050" b="0" i="0" dirty="0">
                <a:solidFill>
                  <a:srgbClr val="707070"/>
                </a:solidFill>
                <a:latin typeface="Calibri"/>
              </a:rPr>
              <a:t>/gpt-5.5 is not included; </a:t>
            </a:r>
            <a:r>
              <a:rPr lang="en-CA" sz="1050" b="0" i="0" dirty="0">
                <a:solidFill>
                  <a:srgbClr val="707070"/>
                </a:solidFill>
                <a:latin typeface="Calibri"/>
              </a:rPr>
              <a:t>cost are estimated for agent only</a:t>
            </a:r>
            <a:r>
              <a:rPr sz="1050" b="0" i="0" dirty="0">
                <a:solidFill>
                  <a:srgbClr val="707070"/>
                </a:solidFill>
                <a:latin typeface="Calibri"/>
              </a:rPr>
              <a:t>. Cache-read</a:t>
            </a:r>
            <a:r>
              <a:rPr lang="en-CA" sz="1050" b="0" i="0" dirty="0">
                <a:solidFill>
                  <a:srgbClr val="707070"/>
                </a:solidFill>
                <a:latin typeface="Calibri"/>
              </a:rPr>
              <a:t> dominated in this experiment.</a:t>
            </a:r>
            <a:endParaRPr sz="1050" b="0" i="0" dirty="0">
              <a:solidFill>
                <a:srgbClr val="70707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1561</Words>
  <Application>Microsoft Macintosh PowerPoint</Application>
  <PresentationFormat>Widescreen</PresentationFormat>
  <Paragraphs>327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Md Afif Al Mamun</cp:lastModifiedBy>
  <cp:revision>3</cp:revision>
  <dcterms:created xsi:type="dcterms:W3CDTF">2013-01-27T09:14:16Z</dcterms:created>
  <dcterms:modified xsi:type="dcterms:W3CDTF">2026-07-24T07:21:14Z</dcterms:modified>
  <cp:category/>
</cp:coreProperties>
</file>