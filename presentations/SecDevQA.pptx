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44C8DC-4C6B-EF4D-AE42-F9FAE063A707}" v="5" dt="2026-07-20T13:46:23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76"/>
    <p:restoredTop sz="94658"/>
  </p:normalViewPr>
  <p:slideViewPr>
    <p:cSldViewPr snapToGrid="0">
      <p:cViewPr varScale="1">
        <p:scale>
          <a:sx n="120" d="100"/>
          <a:sy n="120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Afif Al Mamun" userId="fac0a2f3-8aac-4563-b60d-27df0596ecc4" providerId="ADAL" clId="{E383281E-C296-5D94-B0CD-ED1E6B5B66DD}"/>
    <pc:docChg chg="undo custSel addSld delSld modSld">
      <pc:chgData name="Md Afif Al Mamun" userId="fac0a2f3-8aac-4563-b60d-27df0596ecc4" providerId="ADAL" clId="{E383281E-C296-5D94-B0CD-ED1E6B5B66DD}" dt="2026-07-20T13:53:32.777" v="1173" actId="20577"/>
      <pc:docMkLst>
        <pc:docMk/>
      </pc:docMkLst>
      <pc:sldChg chg="modSp mod">
        <pc:chgData name="Md Afif Al Mamun" userId="fac0a2f3-8aac-4563-b60d-27df0596ecc4" providerId="ADAL" clId="{E383281E-C296-5D94-B0CD-ED1E6B5B66DD}" dt="2026-07-20T13:53:05.113" v="1160" actId="20577"/>
        <pc:sldMkLst>
          <pc:docMk/>
          <pc:sldMk cId="1940986242" sldId="256"/>
        </pc:sldMkLst>
        <pc:spChg chg="mod">
          <ac:chgData name="Md Afif Al Mamun" userId="fac0a2f3-8aac-4563-b60d-27df0596ecc4" providerId="ADAL" clId="{E383281E-C296-5D94-B0CD-ED1E6B5B66DD}" dt="2026-07-20T13:53:05.113" v="1160" actId="20577"/>
          <ac:spMkLst>
            <pc:docMk/>
            <pc:sldMk cId="1940986242" sldId="256"/>
            <ac:spMk id="3" creationId="{C32D24CC-DC0C-9542-C9B7-D155BFF748B3}"/>
          </ac:spMkLst>
        </pc:spChg>
      </pc:sldChg>
      <pc:sldChg chg="addSp delSp modSp mod">
        <pc:chgData name="Md Afif Al Mamun" userId="fac0a2f3-8aac-4563-b60d-27df0596ecc4" providerId="ADAL" clId="{E383281E-C296-5D94-B0CD-ED1E6B5B66DD}" dt="2026-07-20T07:13:37.298" v="414" actId="1076"/>
        <pc:sldMkLst>
          <pc:docMk/>
          <pc:sldMk cId="2049454523" sldId="257"/>
        </pc:sldMkLst>
        <pc:spChg chg="add mod">
          <ac:chgData name="Md Afif Al Mamun" userId="fac0a2f3-8aac-4563-b60d-27df0596ecc4" providerId="ADAL" clId="{E383281E-C296-5D94-B0CD-ED1E6B5B66DD}" dt="2026-07-20T07:13:30.370" v="413" actId="20577"/>
          <ac:spMkLst>
            <pc:docMk/>
            <pc:sldMk cId="2049454523" sldId="257"/>
            <ac:spMk id="3" creationId="{8420FD96-802B-2B17-CF9D-7B969137D4EB}"/>
          </ac:spMkLst>
        </pc:spChg>
        <pc:spChg chg="del mod">
          <ac:chgData name="Md Afif Al Mamun" userId="fac0a2f3-8aac-4563-b60d-27df0596ecc4" providerId="ADAL" clId="{E383281E-C296-5D94-B0CD-ED1E6B5B66DD}" dt="2026-07-20T07:09:21.685" v="23" actId="478"/>
          <ac:spMkLst>
            <pc:docMk/>
            <pc:sldMk cId="2049454523" sldId="257"/>
            <ac:spMk id="6" creationId="{00000000-0000-0000-0000-000000000000}"/>
          </ac:spMkLst>
        </pc:spChg>
        <pc:spChg chg="del">
          <ac:chgData name="Md Afif Al Mamun" userId="fac0a2f3-8aac-4563-b60d-27df0596ecc4" providerId="ADAL" clId="{E383281E-C296-5D94-B0CD-ED1E6B5B66DD}" dt="2026-07-20T07:08:48.436" v="19" actId="478"/>
          <ac:spMkLst>
            <pc:docMk/>
            <pc:sldMk cId="2049454523" sldId="257"/>
            <ac:spMk id="7" creationId="{00000000-0000-0000-0000-000000000000}"/>
          </ac:spMkLst>
        </pc:spChg>
        <pc:picChg chg="mod">
          <ac:chgData name="Md Afif Al Mamun" userId="fac0a2f3-8aac-4563-b60d-27df0596ecc4" providerId="ADAL" clId="{E383281E-C296-5D94-B0CD-ED1E6B5B66DD}" dt="2026-07-20T07:13:37.298" v="414" actId="1076"/>
          <ac:picMkLst>
            <pc:docMk/>
            <pc:sldMk cId="2049454523" sldId="257"/>
            <ac:picMk id="5" creationId="{66DF4A01-EE63-B45A-A7F7-D97B2E0B70AF}"/>
          </ac:picMkLst>
        </pc:picChg>
      </pc:sldChg>
      <pc:sldChg chg="addSp delSp modSp mod">
        <pc:chgData name="Md Afif Al Mamun" userId="fac0a2f3-8aac-4563-b60d-27df0596ecc4" providerId="ADAL" clId="{E383281E-C296-5D94-B0CD-ED1E6B5B66DD}" dt="2026-07-20T07:16:13.809" v="518" actId="255"/>
        <pc:sldMkLst>
          <pc:docMk/>
          <pc:sldMk cId="3651215345" sldId="258"/>
        </pc:sldMkLst>
        <pc:spChg chg="del">
          <ac:chgData name="Md Afif Al Mamun" userId="fac0a2f3-8aac-4563-b60d-27df0596ecc4" providerId="ADAL" clId="{E383281E-C296-5D94-B0CD-ED1E6B5B66DD}" dt="2026-07-20T07:13:54.882" v="418" actId="478"/>
          <ac:spMkLst>
            <pc:docMk/>
            <pc:sldMk cId="3651215345" sldId="258"/>
            <ac:spMk id="3" creationId="{386DAF65-4D58-9D58-C0C0-4E2C354E8279}"/>
          </ac:spMkLst>
        </pc:spChg>
        <pc:spChg chg="add del mod">
          <ac:chgData name="Md Afif Al Mamun" userId="fac0a2f3-8aac-4563-b60d-27df0596ecc4" providerId="ADAL" clId="{E383281E-C296-5D94-B0CD-ED1E6B5B66DD}" dt="2026-07-20T07:16:13.809" v="518" actId="255"/>
          <ac:spMkLst>
            <pc:docMk/>
            <pc:sldMk cId="3651215345" sldId="258"/>
            <ac:spMk id="4" creationId="{00000000-0000-0000-0000-000000000000}"/>
          </ac:spMkLst>
        </pc:spChg>
      </pc:sldChg>
      <pc:sldChg chg="delSp modSp mod">
        <pc:chgData name="Md Afif Al Mamun" userId="fac0a2f3-8aac-4563-b60d-27df0596ecc4" providerId="ADAL" clId="{E383281E-C296-5D94-B0CD-ED1E6B5B66DD}" dt="2026-07-20T07:19:08.693" v="674" actId="255"/>
        <pc:sldMkLst>
          <pc:docMk/>
          <pc:sldMk cId="2423387988" sldId="259"/>
        </pc:sldMkLst>
        <pc:spChg chg="del">
          <ac:chgData name="Md Afif Al Mamun" userId="fac0a2f3-8aac-4563-b60d-27df0596ecc4" providerId="ADAL" clId="{E383281E-C296-5D94-B0CD-ED1E6B5B66DD}" dt="2026-07-20T07:16:22.411" v="520" actId="478"/>
          <ac:spMkLst>
            <pc:docMk/>
            <pc:sldMk cId="2423387988" sldId="259"/>
            <ac:spMk id="3" creationId="{7CEEBE0B-25DA-8218-F344-E33977A316FD}"/>
          </ac:spMkLst>
        </pc:spChg>
        <pc:spChg chg="mod">
          <ac:chgData name="Md Afif Al Mamun" userId="fac0a2f3-8aac-4563-b60d-27df0596ecc4" providerId="ADAL" clId="{E383281E-C296-5D94-B0CD-ED1E6B5B66DD}" dt="2026-07-20T07:19:08.693" v="674" actId="255"/>
          <ac:spMkLst>
            <pc:docMk/>
            <pc:sldMk cId="2423387988" sldId="259"/>
            <ac:spMk id="4" creationId="{00000000-0000-0000-0000-000000000000}"/>
          </ac:spMkLst>
        </pc:spChg>
      </pc:sldChg>
      <pc:sldChg chg="delSp modSp mod">
        <pc:chgData name="Md Afif Al Mamun" userId="fac0a2f3-8aac-4563-b60d-27df0596ecc4" providerId="ADAL" clId="{E383281E-C296-5D94-B0CD-ED1E6B5B66DD}" dt="2026-07-20T07:25:15.239" v="938" actId="207"/>
        <pc:sldMkLst>
          <pc:docMk/>
          <pc:sldMk cId="3520342189" sldId="260"/>
        </pc:sldMkLst>
        <pc:spChg chg="del">
          <ac:chgData name="Md Afif Al Mamun" userId="fac0a2f3-8aac-4563-b60d-27df0596ecc4" providerId="ADAL" clId="{E383281E-C296-5D94-B0CD-ED1E6B5B66DD}" dt="2026-07-20T07:19:16.171" v="675" actId="478"/>
          <ac:spMkLst>
            <pc:docMk/>
            <pc:sldMk cId="3520342189" sldId="260"/>
            <ac:spMk id="3" creationId="{7D88A529-E8BB-CC68-6596-70D4291BB288}"/>
          </ac:spMkLst>
        </pc:spChg>
        <pc:spChg chg="mod">
          <ac:chgData name="Md Afif Al Mamun" userId="fac0a2f3-8aac-4563-b60d-27df0596ecc4" providerId="ADAL" clId="{E383281E-C296-5D94-B0CD-ED1E6B5B66DD}" dt="2026-07-20T07:25:15.239" v="938" actId="207"/>
          <ac:spMkLst>
            <pc:docMk/>
            <pc:sldMk cId="3520342189" sldId="260"/>
            <ac:spMk id="4" creationId="{00000000-0000-0000-0000-000000000000}"/>
          </ac:spMkLst>
        </pc:spChg>
        <pc:picChg chg="mod">
          <ac:chgData name="Md Afif Al Mamun" userId="fac0a2f3-8aac-4563-b60d-27df0596ecc4" providerId="ADAL" clId="{E383281E-C296-5D94-B0CD-ED1E6B5B66DD}" dt="2026-07-20T07:22:20.200" v="852" actId="1076"/>
          <ac:picMkLst>
            <pc:docMk/>
            <pc:sldMk cId="3520342189" sldId="260"/>
            <ac:picMk id="5" creationId="{00000000-0000-0000-0000-000000000000}"/>
          </ac:picMkLst>
        </pc:picChg>
      </pc:sldChg>
      <pc:sldChg chg="delSp modSp mod">
        <pc:chgData name="Md Afif Al Mamun" userId="fac0a2f3-8aac-4563-b60d-27df0596ecc4" providerId="ADAL" clId="{E383281E-C296-5D94-B0CD-ED1E6B5B66DD}" dt="2026-07-20T07:24:01.565" v="876" actId="14100"/>
        <pc:sldMkLst>
          <pc:docMk/>
          <pc:sldMk cId="1584954314" sldId="261"/>
        </pc:sldMkLst>
        <pc:spChg chg="del">
          <ac:chgData name="Md Afif Al Mamun" userId="fac0a2f3-8aac-4563-b60d-27df0596ecc4" providerId="ADAL" clId="{E383281E-C296-5D94-B0CD-ED1E6B5B66DD}" dt="2026-07-20T07:22:27.896" v="853" actId="478"/>
          <ac:spMkLst>
            <pc:docMk/>
            <pc:sldMk cId="1584954314" sldId="261"/>
            <ac:spMk id="3" creationId="{4110BC87-69D3-269D-0672-F3424AD2E185}"/>
          </ac:spMkLst>
        </pc:spChg>
        <pc:spChg chg="mod">
          <ac:chgData name="Md Afif Al Mamun" userId="fac0a2f3-8aac-4563-b60d-27df0596ecc4" providerId="ADAL" clId="{E383281E-C296-5D94-B0CD-ED1E6B5B66DD}" dt="2026-07-20T07:24:01.565" v="876" actId="14100"/>
          <ac:spMkLst>
            <pc:docMk/>
            <pc:sldMk cId="1584954314" sldId="261"/>
            <ac:spMk id="4" creationId="{00000000-0000-0000-0000-000000000000}"/>
          </ac:spMkLst>
        </pc:spChg>
        <pc:spChg chg="mod">
          <ac:chgData name="Md Afif Al Mamun" userId="fac0a2f3-8aac-4563-b60d-27df0596ecc4" providerId="ADAL" clId="{E383281E-C296-5D94-B0CD-ED1E6B5B66DD}" dt="2026-07-20T07:23:52.161" v="875" actId="1076"/>
          <ac:spMkLst>
            <pc:docMk/>
            <pc:sldMk cId="1584954314" sldId="261"/>
            <ac:spMk id="6" creationId="{00000000-0000-0000-0000-000000000000}"/>
          </ac:spMkLst>
        </pc:spChg>
        <pc:picChg chg="mod">
          <ac:chgData name="Md Afif Al Mamun" userId="fac0a2f3-8aac-4563-b60d-27df0596ecc4" providerId="ADAL" clId="{E383281E-C296-5D94-B0CD-ED1E6B5B66DD}" dt="2026-07-20T07:22:30.813" v="854" actId="1076"/>
          <ac:picMkLst>
            <pc:docMk/>
            <pc:sldMk cId="1584954314" sldId="261"/>
            <ac:picMk id="5" creationId="{00000000-0000-0000-0000-000000000000}"/>
          </ac:picMkLst>
        </pc:picChg>
      </pc:sldChg>
      <pc:sldChg chg="delSp modSp mod">
        <pc:chgData name="Md Afif Al Mamun" userId="fac0a2f3-8aac-4563-b60d-27df0596ecc4" providerId="ADAL" clId="{E383281E-C296-5D94-B0CD-ED1E6B5B66DD}" dt="2026-07-20T07:28:37.244" v="1021" actId="20577"/>
        <pc:sldMkLst>
          <pc:docMk/>
          <pc:sldMk cId="548395111" sldId="262"/>
        </pc:sldMkLst>
        <pc:spChg chg="del">
          <ac:chgData name="Md Afif Al Mamun" userId="fac0a2f3-8aac-4563-b60d-27df0596ecc4" providerId="ADAL" clId="{E383281E-C296-5D94-B0CD-ED1E6B5B66DD}" dt="2026-07-20T07:26:03.186" v="940" actId="478"/>
          <ac:spMkLst>
            <pc:docMk/>
            <pc:sldMk cId="548395111" sldId="262"/>
            <ac:spMk id="3" creationId="{4FCD5035-61A2-1250-2014-AE2582CF5A23}"/>
          </ac:spMkLst>
        </pc:spChg>
        <pc:spChg chg="mod">
          <ac:chgData name="Md Afif Al Mamun" userId="fac0a2f3-8aac-4563-b60d-27df0596ecc4" providerId="ADAL" clId="{E383281E-C296-5D94-B0CD-ED1E6B5B66DD}" dt="2026-07-20T07:28:37.244" v="1021" actId="20577"/>
          <ac:spMkLst>
            <pc:docMk/>
            <pc:sldMk cId="548395111" sldId="262"/>
            <ac:spMk id="4" creationId="{00000000-0000-0000-0000-000000000000}"/>
          </ac:spMkLst>
        </pc:spChg>
      </pc:sldChg>
      <pc:sldChg chg="delSp modSp mod">
        <pc:chgData name="Md Afif Al Mamun" userId="fac0a2f3-8aac-4563-b60d-27df0596ecc4" providerId="ADAL" clId="{E383281E-C296-5D94-B0CD-ED1E6B5B66DD}" dt="2026-07-20T13:47:39.352" v="1142" actId="20577"/>
        <pc:sldMkLst>
          <pc:docMk/>
          <pc:sldMk cId="0" sldId="263"/>
        </pc:sldMkLst>
        <pc:spChg chg="del">
          <ac:chgData name="Md Afif Al Mamun" userId="fac0a2f3-8aac-4563-b60d-27df0596ecc4" providerId="ADAL" clId="{E383281E-C296-5D94-B0CD-ED1E6B5B66DD}" dt="2026-07-20T07:28:48.251" v="1023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Md Afif Al Mamun" userId="fac0a2f3-8aac-4563-b60d-27df0596ecc4" providerId="ADAL" clId="{E383281E-C296-5D94-B0CD-ED1E6B5B66DD}" dt="2026-07-20T13:47:39.352" v="1142" actId="20577"/>
          <ac:spMkLst>
            <pc:docMk/>
            <pc:sldMk cId="0" sldId="263"/>
            <ac:spMk id="4" creationId="{00000000-0000-0000-0000-000000000000}"/>
          </ac:spMkLst>
        </pc:spChg>
      </pc:sldChg>
      <pc:sldChg chg="del">
        <pc:chgData name="Md Afif Al Mamun" userId="fac0a2f3-8aac-4563-b60d-27df0596ecc4" providerId="ADAL" clId="{E383281E-C296-5D94-B0CD-ED1E6B5B66DD}" dt="2026-07-20T07:08:41.992" v="18" actId="2696"/>
        <pc:sldMkLst>
          <pc:docMk/>
          <pc:sldMk cId="0" sldId="264"/>
        </pc:sldMkLst>
      </pc:sldChg>
      <pc:sldChg chg="modSp mod">
        <pc:chgData name="Md Afif Al Mamun" userId="fac0a2f3-8aac-4563-b60d-27df0596ecc4" providerId="ADAL" clId="{E383281E-C296-5D94-B0CD-ED1E6B5B66DD}" dt="2026-07-20T07:08:34.944" v="17" actId="20577"/>
        <pc:sldMkLst>
          <pc:docMk/>
          <pc:sldMk cId="426726408" sldId="265"/>
        </pc:sldMkLst>
        <pc:spChg chg="mod">
          <ac:chgData name="Md Afif Al Mamun" userId="fac0a2f3-8aac-4563-b60d-27df0596ecc4" providerId="ADAL" clId="{E383281E-C296-5D94-B0CD-ED1E6B5B66DD}" dt="2026-07-20T07:08:34.944" v="17" actId="20577"/>
          <ac:spMkLst>
            <pc:docMk/>
            <pc:sldMk cId="426726408" sldId="265"/>
            <ac:spMk id="5" creationId="{C47166F7-4F3C-9D4E-5557-52CF7FC211C6}"/>
          </ac:spMkLst>
        </pc:spChg>
      </pc:sldChg>
      <pc:sldChg chg="modSp new mod">
        <pc:chgData name="Md Afif Al Mamun" userId="fac0a2f3-8aac-4563-b60d-27df0596ecc4" providerId="ADAL" clId="{E383281E-C296-5D94-B0CD-ED1E6B5B66DD}" dt="2026-07-20T13:53:32.777" v="1173" actId="20577"/>
        <pc:sldMkLst>
          <pc:docMk/>
          <pc:sldMk cId="1506377924" sldId="266"/>
        </pc:sldMkLst>
        <pc:spChg chg="mod">
          <ac:chgData name="Md Afif Al Mamun" userId="fac0a2f3-8aac-4563-b60d-27df0596ecc4" providerId="ADAL" clId="{E383281E-C296-5D94-B0CD-ED1E6B5B66DD}" dt="2026-07-20T07:09:31.583" v="31" actId="20577"/>
          <ac:spMkLst>
            <pc:docMk/>
            <pc:sldMk cId="1506377924" sldId="266"/>
            <ac:spMk id="2" creationId="{D1A2B6F3-5FBA-258C-1937-3555587E6ED1}"/>
          </ac:spMkLst>
        </pc:spChg>
        <pc:spChg chg="mod">
          <ac:chgData name="Md Afif Al Mamun" userId="fac0a2f3-8aac-4563-b60d-27df0596ecc4" providerId="ADAL" clId="{E383281E-C296-5D94-B0CD-ED1E6B5B66DD}" dt="2026-07-20T13:53:32.777" v="1173" actId="20577"/>
          <ac:spMkLst>
            <pc:docMk/>
            <pc:sldMk cId="1506377924" sldId="266"/>
            <ac:spMk id="3" creationId="{3927FCFA-5986-09B4-9C8D-642BA0AA5DE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8B670-F05B-BE4F-5C73-0FFCDC495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F1B3C-0FE3-8F1A-B2E1-2239C0A73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426B0-F5A7-A337-CCC3-D211CD213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314B-7262-D54C-81AB-FF425BF9F82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19738-A0FB-B468-C3B0-7B3E2972A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16F64-EE76-AD5C-6A24-B22DF9CBC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C8E32-C11F-E44B-B838-7B48689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542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A0709-5943-75D8-6770-C05D615D4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A6DE4-C002-D919-06C5-092073E00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F9759-F1AC-ED68-FE19-3278D0FAF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314B-7262-D54C-81AB-FF425BF9F82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F9CB2-4765-D64A-10BE-B0ED9B2FF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7C5E3-0329-4C9A-0BA6-625185D48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C8E32-C11F-E44B-B838-7B48689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8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36A3-987A-5A91-5061-7293A96B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AD7E8-1341-9200-FC4F-6D9A8FF05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6DB2B-6202-8F5A-1345-A39E350F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314B-7262-D54C-81AB-FF425BF9F82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FE61E-CCDB-486C-D595-5B559F60F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FB731-307C-F06B-0F8C-66EBF703A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C8E32-C11F-E44B-B838-7B48689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8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1F0E-60F9-6C77-AF6D-93D817628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AD598-EEA1-2134-6274-458B7D608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0372D-18C9-E3EF-610F-C11C1DC19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2A851-DA27-85C9-9CE5-A03A47D2F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314B-7262-D54C-81AB-FF425BF9F82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0C627-6F4C-D2F9-9DB2-BB611C85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EAF06-E75C-D1D0-5C57-EE76BD30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C8E32-C11F-E44B-B838-7B48689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7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8B80-2832-F86A-DF98-B0535C8F7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D4AA1-3121-39BD-1497-4C096B358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D705E-385B-C492-B347-49045D285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8C729-2DDD-FCAA-077A-35F404771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2CD49-2764-5357-4B6B-D0FF12DA5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4B178D-FE4C-137C-4B30-54A23AD51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314B-7262-D54C-81AB-FF425BF9F82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33D3C-7FD4-4E91-CF53-ECC0094D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11EC7-8C89-7D7B-18AE-64094B741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C8E32-C11F-E44B-B838-7B48689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85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E99F-E6E1-B41F-6B28-19F43641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6CD568-EC44-39AC-E879-C9B3EAAE4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314B-7262-D54C-81AB-FF425BF9F82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2FDEF9-4897-CD7E-3286-A4DB0ECC3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54179-A3D7-0D3D-3955-26FF814F3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C8E32-C11F-E44B-B838-7B48689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79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C10DA1-6CAB-DA63-020E-1BD0B426C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314B-7262-D54C-81AB-FF425BF9F82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FD3215-41A4-4178-CBCF-DCF75F7F3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C29AC-F993-DB36-979D-4A7331D3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C8E32-C11F-E44B-B838-7B48689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99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2A02-029B-CBD6-726F-3C6EF9DE9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D54FA-E2C7-D445-C78B-1C3479369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DD18D-32D5-85C1-1156-C9B0E7ABD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EC6A2-10A5-DB02-DE0F-F17BF5416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314B-7262-D54C-81AB-FF425BF9F82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FEF20-C7F9-4ADB-CEE8-447F73F8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4F900-481A-BD9D-D3DF-86C10908D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C8E32-C11F-E44B-B838-7B48689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7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5C30-78B7-D794-26F8-6512E6CFB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246B41-D068-D55B-0F95-A09EF4EC2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100D5-92B7-35DC-91B4-756EA60A3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ABA1B-AF3B-57C9-F8D0-A93AE5EED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314B-7262-D54C-81AB-FF425BF9F82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501D8-9407-190E-395F-6B028911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C1562-6789-102A-EADF-2D75C78B6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C8E32-C11F-E44B-B838-7B48689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2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196B3-C487-246F-8A10-34C9A438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07E010-A8A6-1105-71D2-DB6DF11AA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9B62A-9FA5-1D5D-2DDC-9D6A74081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314B-7262-D54C-81AB-FF425BF9F82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42C8A-DBE1-87F4-342E-21BDFCFE4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8978D-A626-3D1B-0C48-C6F468A64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C8E32-C11F-E44B-B838-7B48689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0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B4378B-D1D5-7955-EE97-9C483A7A5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A6948-9D3F-08A1-E640-F56C1183C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9A29F-C622-8C74-2C5C-98E3CC76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E314B-7262-D54C-81AB-FF425BF9F82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0CC91-D7B3-D80B-09AF-AC7D79A57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75FA1-AA71-F958-12DD-6501A482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C8E32-C11F-E44B-B838-7B48689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89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16298-235A-7ACF-6A5F-60B6409F6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C92D0-C865-A13D-1C44-65BF5B2A2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5FD14-AE50-C498-0E6B-76E9602A1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E314B-7262-D54C-81AB-FF425BF9F82F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77349-9940-4F31-E028-58AD1E2B1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70F4A-564F-ED39-1741-030D08585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C8E32-C11F-E44B-B838-7B48689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29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ca/cryptography/issues/14207" TargetMode="External"/><Relationship Id="rId2" Type="http://schemas.openxmlformats.org/officeDocument/2006/relationships/hyperlink" Target="https://github.com/python-pillow/Pillow/issues/695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xios/axios/issues/6969" TargetMode="External"/><Relationship Id="rId5" Type="http://schemas.openxmlformats.org/officeDocument/2006/relationships/hyperlink" Target="http://github.com/fastapi/fastapi/issues/5837" TargetMode="External"/><Relationship Id="rId4" Type="http://schemas.openxmlformats.org/officeDocument/2006/relationships/hyperlink" Target="https://github.com/kubernetes/kubernetes/issues/137891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26ED2-0A69-D8E6-C0C6-E4427D1DE6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SecDevQA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2D24CC-DC0C-9542-C9B7-D155BFF748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dirty="0">
                <a:solidFill>
                  <a:srgbClr val="156082"/>
                </a:solidFill>
                <a:latin typeface="Aptos"/>
              </a:rPr>
              <a:t>A benchmark of real developer security queries</a:t>
            </a:r>
            <a:r>
              <a:rPr lang="en-CA" sz="2000" dirty="0">
                <a:solidFill>
                  <a:srgbClr val="156082"/>
                </a:solidFill>
                <a:latin typeface="Aptos"/>
              </a:rPr>
              <a:t> </a:t>
            </a:r>
            <a:r>
              <a:rPr sz="2000" dirty="0">
                <a:solidFill>
                  <a:srgbClr val="156082"/>
                </a:solidFill>
                <a:latin typeface="Aptos"/>
              </a:rPr>
              <a:t>and</a:t>
            </a:r>
            <a:r>
              <a:rPr lang="en-CA" sz="2000" dirty="0">
                <a:solidFill>
                  <a:srgbClr val="156082"/>
                </a:solidFill>
                <a:latin typeface="Aptos"/>
              </a:rPr>
              <a:t> to evaluate</a:t>
            </a:r>
            <a:r>
              <a:rPr sz="2000" dirty="0">
                <a:solidFill>
                  <a:srgbClr val="156082"/>
                </a:solidFill>
                <a:latin typeface="Aptos"/>
              </a:rPr>
              <a:t> how LLMs and coding agents answer the</a:t>
            </a:r>
            <a:r>
              <a:rPr lang="en-CA" sz="2000" dirty="0">
                <a:solidFill>
                  <a:srgbClr val="156082"/>
                </a:solidFill>
                <a:latin typeface="Aptos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940986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3709A-34EF-4B58-B1D1-59928E99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166F7-4F3C-9D4E-5557-52CF7FC211C6}"/>
              </a:ext>
            </a:extLst>
          </p:cNvPr>
          <p:cNvSpPr txBox="1"/>
          <p:nvPr/>
        </p:nvSpPr>
        <p:spPr>
          <a:xfrm>
            <a:off x="838200" y="1562655"/>
            <a:ext cx="11094720" cy="41755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CA" sz="2000" b="1" dirty="0">
                <a:solidFill>
                  <a:srgbClr val="156082"/>
                </a:solidFill>
                <a:latin typeface="Aptos"/>
              </a:rPr>
              <a:t>Developers ask different types of security queries in software repositories. Some examples:</a:t>
            </a:r>
          </a:p>
          <a:p>
            <a:pPr>
              <a:spcAft>
                <a:spcPts val="600"/>
              </a:spcAft>
            </a:pPr>
            <a:endParaRPr sz="2000" b="1" dirty="0">
              <a:solidFill>
                <a:srgbClr val="156082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262626"/>
                </a:solidFill>
                <a:latin typeface="Aptos"/>
              </a:rPr>
              <a:t>Am I affected? </a:t>
            </a:r>
            <a:r>
              <a:rPr sz="2400" dirty="0">
                <a:solidFill>
                  <a:srgbClr val="595959"/>
                </a:solidFill>
                <a:latin typeface="Aptos"/>
              </a:rPr>
              <a:t>triage a disclosed CVE/advisory against real usage  </a:t>
            </a:r>
            <a:r>
              <a:rPr lang="en-CA" sz="2400" dirty="0">
                <a:solidFill>
                  <a:srgbClr val="595959"/>
                </a:solidFill>
                <a:latin typeface="Aptos"/>
              </a:rPr>
              <a:t>(</a:t>
            </a:r>
            <a:r>
              <a:rPr sz="2400" dirty="0">
                <a:solidFill>
                  <a:srgbClr val="595959"/>
                </a:solidFill>
                <a:latin typeface="Aptos"/>
                <a:hlinkClick r:id="rId2"/>
              </a:rPr>
              <a:t>Pillow #6955</a:t>
            </a:r>
            <a:r>
              <a:rPr lang="en-CA" sz="2400" dirty="0">
                <a:solidFill>
                  <a:srgbClr val="595959"/>
                </a:solidFill>
                <a:latin typeface="Aptos"/>
              </a:rPr>
              <a:t>)</a:t>
            </a:r>
            <a:endParaRPr sz="2400" dirty="0">
              <a:solidFill>
                <a:srgbClr val="595959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262626"/>
                </a:solidFill>
                <a:latin typeface="Aptos"/>
              </a:rPr>
              <a:t>Is it even a real issue? </a:t>
            </a:r>
            <a:r>
              <a:rPr sz="2400" dirty="0">
                <a:solidFill>
                  <a:srgbClr val="595959"/>
                </a:solidFill>
                <a:latin typeface="Aptos"/>
              </a:rPr>
              <a:t>false-positive / scanner-noise triage  </a:t>
            </a:r>
            <a:r>
              <a:rPr lang="en-CA" sz="2400" dirty="0">
                <a:solidFill>
                  <a:srgbClr val="595959"/>
                </a:solidFill>
                <a:latin typeface="Aptos"/>
              </a:rPr>
              <a:t>(</a:t>
            </a:r>
            <a:r>
              <a:rPr sz="2400" dirty="0">
                <a:solidFill>
                  <a:srgbClr val="595959"/>
                </a:solidFill>
                <a:latin typeface="Aptos"/>
                <a:hlinkClick r:id="rId3"/>
              </a:rPr>
              <a:t>cryptography #14207</a:t>
            </a:r>
            <a:r>
              <a:rPr lang="en-CA" sz="2400" dirty="0">
                <a:solidFill>
                  <a:srgbClr val="595959"/>
                </a:solidFill>
                <a:latin typeface="Aptos"/>
              </a:rPr>
              <a:t>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262626"/>
                </a:solidFill>
                <a:latin typeface="Aptos"/>
              </a:rPr>
              <a:t>Which fix, which version? </a:t>
            </a:r>
            <a:r>
              <a:rPr sz="2400" dirty="0">
                <a:solidFill>
                  <a:srgbClr val="595959"/>
                </a:solidFill>
                <a:latin typeface="Aptos"/>
              </a:rPr>
              <a:t>point to a prior issue, PR, commit, or release</a:t>
            </a:r>
            <a:r>
              <a:rPr lang="en-CA" sz="2400" dirty="0">
                <a:solidFill>
                  <a:srgbClr val="595959"/>
                </a:solidFill>
                <a:latin typeface="Aptos"/>
              </a:rPr>
              <a:t> (</a:t>
            </a:r>
            <a:r>
              <a:rPr lang="en-CA" sz="2400" dirty="0">
                <a:solidFill>
                  <a:srgbClr val="595959"/>
                </a:solidFill>
                <a:latin typeface="Aptos"/>
                <a:hlinkClick r:id="rId4"/>
              </a:rPr>
              <a:t>Kubernetes#137891</a:t>
            </a:r>
            <a:r>
              <a:rPr lang="en-CA" sz="2400" dirty="0">
                <a:solidFill>
                  <a:srgbClr val="595959"/>
                </a:solidFill>
                <a:latin typeface="Aptos"/>
              </a:rPr>
              <a:t>)</a:t>
            </a:r>
            <a:r>
              <a:rPr sz="2400" dirty="0">
                <a:solidFill>
                  <a:srgbClr val="595959"/>
                </a:solidFill>
                <a:latin typeface="Aptos"/>
              </a:rPr>
              <a:t>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262626"/>
                </a:solidFill>
                <a:latin typeface="Aptos"/>
              </a:rPr>
              <a:t>How do I do this securely? </a:t>
            </a:r>
            <a:r>
              <a:rPr sz="2400" dirty="0">
                <a:solidFill>
                  <a:srgbClr val="595959"/>
                </a:solidFill>
                <a:latin typeface="Aptos"/>
              </a:rPr>
              <a:t>configuration &amp; best practice from general knowledge  </a:t>
            </a:r>
            <a:r>
              <a:rPr lang="en-CA" sz="2400" dirty="0">
                <a:solidFill>
                  <a:srgbClr val="595959"/>
                </a:solidFill>
                <a:latin typeface="Aptos"/>
              </a:rPr>
              <a:t>(</a:t>
            </a:r>
            <a:r>
              <a:rPr sz="2400" dirty="0">
                <a:solidFill>
                  <a:srgbClr val="595959"/>
                </a:solidFill>
                <a:latin typeface="Aptos"/>
                <a:hlinkClick r:id="rId5"/>
              </a:rPr>
              <a:t>fastapi#5837</a:t>
            </a:r>
            <a:r>
              <a:rPr lang="en-CA" sz="2400" dirty="0">
                <a:solidFill>
                  <a:srgbClr val="595959"/>
                </a:solidFill>
                <a:latin typeface="Aptos"/>
              </a:rPr>
              <a:t>)</a:t>
            </a:r>
            <a:r>
              <a:rPr sz="2400" dirty="0">
                <a:solidFill>
                  <a:srgbClr val="595959"/>
                </a:solidFill>
                <a:latin typeface="Aptos"/>
              </a:rPr>
              <a:t> </a:t>
            </a:r>
            <a:endParaRPr lang="en-CA" sz="2400" dirty="0">
              <a:solidFill>
                <a:srgbClr val="595959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262626"/>
                </a:solidFill>
                <a:latin typeface="Aptos"/>
              </a:rPr>
              <a:t>How do I remediate? </a:t>
            </a:r>
            <a:r>
              <a:rPr sz="2400" dirty="0">
                <a:solidFill>
                  <a:srgbClr val="595959"/>
                </a:solidFill>
                <a:latin typeface="Aptos"/>
              </a:rPr>
              <a:t>fix a transitive dependency </a:t>
            </a:r>
            <a:r>
              <a:rPr lang="en-CA" sz="2400" dirty="0">
                <a:solidFill>
                  <a:srgbClr val="595959"/>
                </a:solidFill>
                <a:latin typeface="Aptos"/>
              </a:rPr>
              <a:t>(</a:t>
            </a:r>
            <a:r>
              <a:rPr sz="2400" dirty="0">
                <a:solidFill>
                  <a:srgbClr val="595959"/>
                </a:solidFill>
                <a:latin typeface="Aptos"/>
                <a:hlinkClick r:id="rId6"/>
              </a:rPr>
              <a:t>axios#6969</a:t>
            </a:r>
            <a:r>
              <a:rPr lang="en-CA" sz="2400" dirty="0">
                <a:solidFill>
                  <a:srgbClr val="595959"/>
                </a:solidFill>
                <a:latin typeface="Aptos"/>
              </a:rPr>
              <a:t>)</a:t>
            </a:r>
            <a:endParaRPr sz="2400" dirty="0">
              <a:solidFill>
                <a:srgbClr val="595959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6726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2B6F3-5FBA-258C-1937-3555587E6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7FCFA-5986-09B4-9C8D-642BA0AA5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>
                <a:solidFill>
                  <a:srgbClr val="262626"/>
                </a:solidFill>
              </a:rPr>
              <a:t>Can LLMs/agents answer such questions that may require one or more internal (issue tracker, commits, code, etc.) or external (internet, advisory databases) artifacts?</a:t>
            </a:r>
          </a:p>
          <a:p>
            <a:r>
              <a:rPr lang="en-CA" sz="2400" dirty="0">
                <a:solidFill>
                  <a:srgbClr val="262626"/>
                </a:solidFill>
              </a:rPr>
              <a:t>Which kind of artifacts are essential to answer what kind of questions?</a:t>
            </a:r>
          </a:p>
        </p:txBody>
      </p:sp>
    </p:spTree>
    <p:extLst>
      <p:ext uri="{BB962C8B-B14F-4D97-AF65-F5344CB8AC3E}">
        <p14:creationId xmlns:p14="http://schemas.microsoft.com/office/powerpoint/2010/main" val="1506377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73C5-7615-F67D-E22F-8B4235A9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DF4A01-EE63-B45A-A7F7-D97B2E0B7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39" y="3490887"/>
            <a:ext cx="11497921" cy="28210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0FD96-802B-2B17-CF9D-7B969137D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rgbClr val="262626"/>
                </a:solidFill>
              </a:rPr>
              <a:t>3 Steps</a:t>
            </a:r>
          </a:p>
          <a:p>
            <a:pPr lvl="1"/>
            <a:r>
              <a:rPr lang="en-CA" sz="2000" dirty="0">
                <a:solidFill>
                  <a:srgbClr val="262626"/>
                </a:solidFill>
              </a:rPr>
              <a:t>Data Collection</a:t>
            </a:r>
          </a:p>
          <a:p>
            <a:pPr lvl="1"/>
            <a:r>
              <a:rPr lang="en-CA" sz="2000" dirty="0">
                <a:solidFill>
                  <a:srgbClr val="262626"/>
                </a:solidFill>
              </a:rPr>
              <a:t>QA Pair Extraction</a:t>
            </a:r>
          </a:p>
          <a:p>
            <a:pPr lvl="1"/>
            <a:r>
              <a:rPr lang="en-CA" sz="2000" dirty="0">
                <a:solidFill>
                  <a:srgbClr val="262626"/>
                </a:solidFill>
              </a:rPr>
              <a:t>QA Synthesis</a:t>
            </a:r>
          </a:p>
        </p:txBody>
      </p:sp>
    </p:spTree>
    <p:extLst>
      <p:ext uri="{BB962C8B-B14F-4D97-AF65-F5344CB8AC3E}">
        <p14:creationId xmlns:p14="http://schemas.microsoft.com/office/powerpoint/2010/main" val="2049454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FDD3C-617A-016F-136E-D1B1D6CDC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01569"/>
            <a:ext cx="11094720" cy="39703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Independent source. </a:t>
            </a:r>
            <a:r>
              <a:rPr lang="en-CA" sz="2400" dirty="0">
                <a:solidFill>
                  <a:srgbClr val="262626"/>
                </a:solidFill>
                <a:latin typeface="Aptos"/>
              </a:rPr>
              <a:t>Repositories that appears in G</a:t>
            </a:r>
            <a:r>
              <a:rPr sz="2400" dirty="0" err="1">
                <a:solidFill>
                  <a:srgbClr val="262626"/>
                </a:solidFill>
                <a:latin typeface="Aptos"/>
              </a:rPr>
              <a:t>itHub</a:t>
            </a:r>
            <a:r>
              <a:rPr sz="2400" dirty="0">
                <a:solidFill>
                  <a:srgbClr val="262626"/>
                </a:solidFill>
                <a:latin typeface="Aptos"/>
              </a:rPr>
              <a:t> Advisory Database</a:t>
            </a:r>
            <a:endParaRPr lang="en-CA" sz="2400" dirty="0">
              <a:solidFill>
                <a:srgbClr val="262626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lang="en-CA" sz="2400" b="1" dirty="0">
                <a:solidFill>
                  <a:srgbClr val="156082"/>
                </a:solidFill>
                <a:latin typeface="Aptos"/>
              </a:rPr>
              <a:t>Repo Filtering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. </a:t>
            </a:r>
            <a:endParaRPr lang="en-CA" sz="2400" b="1" dirty="0">
              <a:solidFill>
                <a:srgbClr val="156082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CA" sz="2400" b="1" dirty="0">
                <a:solidFill>
                  <a:srgbClr val="156082"/>
                </a:solidFill>
                <a:latin typeface="Aptos"/>
              </a:rPr>
              <a:t>	</a:t>
            </a:r>
            <a:r>
              <a:rPr sz="2400" dirty="0">
                <a:solidFill>
                  <a:srgbClr val="262626"/>
                </a:solidFill>
                <a:latin typeface="Aptos"/>
              </a:rPr>
              <a:t>≥10 fix-bearing advisories </a:t>
            </a:r>
            <a:endParaRPr lang="en-CA" sz="2400" dirty="0">
              <a:solidFill>
                <a:srgbClr val="262626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CA" sz="2400" dirty="0">
                <a:solidFill>
                  <a:srgbClr val="262626"/>
                </a:solidFill>
                <a:latin typeface="Aptos"/>
              </a:rPr>
              <a:t>	</a:t>
            </a:r>
            <a:r>
              <a:rPr sz="2400" dirty="0">
                <a:solidFill>
                  <a:srgbClr val="262626"/>
                </a:solidFill>
                <a:latin typeface="Aptos"/>
              </a:rPr>
              <a:t>≥1,000 stars   </a:t>
            </a:r>
            <a:endParaRPr lang="en-CA" sz="2400" dirty="0">
              <a:solidFill>
                <a:srgbClr val="262626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CA" sz="2400" dirty="0">
                <a:solidFill>
                  <a:srgbClr val="262626"/>
                </a:solidFill>
                <a:latin typeface="Aptos"/>
              </a:rPr>
              <a:t>	</a:t>
            </a:r>
            <a:r>
              <a:rPr sz="2400" dirty="0">
                <a:solidFill>
                  <a:srgbClr val="262626"/>
                </a:solidFill>
                <a:latin typeface="Aptos"/>
              </a:rPr>
              <a:t>actively maintained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Current corpus: </a:t>
            </a:r>
            <a:r>
              <a:rPr lang="en-CA" sz="2400" b="1" dirty="0">
                <a:solidFill>
                  <a:srgbClr val="156082"/>
                </a:solidFill>
                <a:latin typeface="Aptos"/>
              </a:rPr>
              <a:t>2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0 repos, 3 languages. </a:t>
            </a:r>
            <a:r>
              <a:rPr sz="2400" dirty="0">
                <a:solidFill>
                  <a:srgbClr val="262626"/>
                </a:solidFill>
                <a:latin typeface="Aptos"/>
              </a:rPr>
              <a:t>HTTP clients, cryptography, image processing, web frameworks, auth, payments.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Thread mining. </a:t>
            </a:r>
            <a:r>
              <a:rPr sz="2400" dirty="0">
                <a:solidFill>
                  <a:srgbClr val="262626"/>
                </a:solidFill>
                <a:latin typeface="Aptos"/>
              </a:rPr>
              <a:t>Closed issues + discussion threads (2024-01 – 2026-05</a:t>
            </a:r>
            <a:r>
              <a:rPr lang="en-CA" sz="2400" dirty="0">
                <a:solidFill>
                  <a:srgbClr val="262626"/>
                </a:solidFill>
                <a:latin typeface="Aptos"/>
              </a:rPr>
              <a:t>)</a:t>
            </a:r>
            <a:endParaRPr sz="2400" dirty="0">
              <a:solidFill>
                <a:srgbClr val="26262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51215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B796-0957-63A2-E5D0-832E86985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QA Pair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0688"/>
            <a:ext cx="11094720" cy="31393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Security Q&amp;A is a sparse minority. </a:t>
            </a:r>
            <a:r>
              <a:rPr sz="2400" dirty="0">
                <a:solidFill>
                  <a:srgbClr val="262626"/>
                </a:solidFill>
                <a:latin typeface="Aptos"/>
              </a:rPr>
              <a:t>Two-stage LLM pipeline as a prefilter, then human verification </a:t>
            </a:r>
            <a:endParaRPr lang="en-CA" sz="2400" dirty="0">
              <a:solidFill>
                <a:srgbClr val="262626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Stage 1 </a:t>
            </a:r>
            <a:r>
              <a:rPr lang="en-CA" sz="2400" b="1" dirty="0">
                <a:solidFill>
                  <a:srgbClr val="156082"/>
                </a:solidFill>
                <a:latin typeface="Aptos"/>
              </a:rPr>
              <a:t>—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 detection. </a:t>
            </a:r>
            <a:r>
              <a:rPr sz="2400" dirty="0">
                <a:solidFill>
                  <a:srgbClr val="262626"/>
                </a:solidFill>
                <a:latin typeface="Aptos"/>
              </a:rPr>
              <a:t>GPT-5.4-mini flags threads with </a:t>
            </a:r>
            <a:r>
              <a:rPr lang="en-CA" sz="2400" dirty="0">
                <a:solidFill>
                  <a:srgbClr val="262626"/>
                </a:solidFill>
                <a:latin typeface="Aptos"/>
              </a:rPr>
              <a:t>a possible </a:t>
            </a:r>
            <a:r>
              <a:rPr sz="2400" dirty="0">
                <a:solidFill>
                  <a:srgbClr val="262626"/>
                </a:solidFill>
                <a:latin typeface="Aptos"/>
              </a:rPr>
              <a:t>security query</a:t>
            </a:r>
            <a:endParaRPr lang="en-CA" sz="2400" dirty="0">
              <a:solidFill>
                <a:srgbClr val="262626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Stage 2 — extraction. </a:t>
            </a:r>
            <a:r>
              <a:rPr sz="2400" dirty="0">
                <a:solidFill>
                  <a:srgbClr val="262626"/>
                </a:solidFill>
                <a:latin typeface="Aptos"/>
              </a:rPr>
              <a:t>Pulls query/answer comments, answerer role, artifact types drawn on, and verifiable facts (CVE/GHSA/version/PR/commit).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lang="en-CA" sz="2400" b="1" dirty="0">
                <a:solidFill>
                  <a:srgbClr val="156082"/>
                </a:solidFill>
                <a:latin typeface="Aptos"/>
              </a:rPr>
              <a:t>Dual human verification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. </a:t>
            </a:r>
            <a:r>
              <a:rPr lang="en-CA" sz="2400" dirty="0">
                <a:solidFill>
                  <a:srgbClr val="262626"/>
                </a:solidFill>
                <a:latin typeface="Aptos"/>
              </a:rPr>
              <a:t>2 persons verify whether the thread actually contains a security issue.</a:t>
            </a:r>
            <a:endParaRPr sz="2400" dirty="0">
              <a:solidFill>
                <a:srgbClr val="26262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23387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9AF2-377A-9A15-C2CE-9DDC4F16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QA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5623560" cy="5037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Raw threads are</a:t>
            </a:r>
            <a:r>
              <a:rPr lang="en-CA" sz="2400" b="1" dirty="0">
                <a:solidFill>
                  <a:srgbClr val="156082"/>
                </a:solidFill>
                <a:latin typeface="Aptos"/>
              </a:rPr>
              <a:t> hard to grade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62626"/>
                </a:solidFill>
                <a:latin typeface="Aptos"/>
              </a:rPr>
              <a:t>They </a:t>
            </a:r>
            <a:r>
              <a:rPr lang="en-CA" sz="2400" dirty="0">
                <a:solidFill>
                  <a:srgbClr val="262626"/>
                </a:solidFill>
                <a:latin typeface="Aptos"/>
              </a:rPr>
              <a:t>query may also contain a possible fix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rgbClr val="262626"/>
                </a:solidFill>
                <a:latin typeface="Aptos"/>
              </a:rPr>
              <a:t>The question can be somewhere in the thread while it also requires the context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Synthesis (GPT-5.5 + human). </a:t>
            </a:r>
            <a:r>
              <a:rPr sz="2400" dirty="0">
                <a:solidFill>
                  <a:srgbClr val="262626"/>
                </a:solidFill>
                <a:latin typeface="Aptos"/>
              </a:rPr>
              <a:t>Each pair → a self-contained, resolution-free (query, answer) item; reporter specifics kept verbatim.</a:t>
            </a:r>
            <a:endParaRPr lang="en-CA" sz="2400" dirty="0">
              <a:solidFill>
                <a:srgbClr val="262626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CA" sz="2400" b="1" dirty="0">
                <a:solidFill>
                  <a:srgbClr val="E97132"/>
                </a:solidFill>
              </a:rPr>
              <a:t>•  </a:t>
            </a:r>
            <a:r>
              <a:rPr lang="en-CA" sz="2400" b="1" dirty="0">
                <a:solidFill>
                  <a:srgbClr val="156082"/>
                </a:solidFill>
              </a:rPr>
              <a:t>Knowledge Type. </a:t>
            </a:r>
            <a:r>
              <a:rPr lang="en-CA" sz="2400" dirty="0"/>
              <a:t>Contextual, Parametric</a:t>
            </a:r>
            <a:endParaRPr sz="2400" dirty="0">
              <a:latin typeface="Aptos"/>
            </a:endParaRPr>
          </a:p>
        </p:txBody>
      </p:sp>
      <p:pic>
        <p:nvPicPr>
          <p:cNvPr id="5" name="Picture 4" descr="secdevqa-normalization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486400" cy="41323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6303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Aptos"/>
              </a:rPr>
              <a:t>Pillow #6955: raw thread → synthesized question + gold answer</a:t>
            </a:r>
          </a:p>
        </p:txBody>
      </p:sp>
    </p:spTree>
    <p:extLst>
      <p:ext uri="{BB962C8B-B14F-4D97-AF65-F5344CB8AC3E}">
        <p14:creationId xmlns:p14="http://schemas.microsoft.com/office/powerpoint/2010/main" val="3520342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FB934-D64F-4850-AA4D-0EC64D14F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19" y="1554480"/>
            <a:ext cx="5844717" cy="41703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One rubric per item, ≤5 criteria. </a:t>
            </a:r>
            <a:r>
              <a:rPr sz="2400" dirty="0">
                <a:solidFill>
                  <a:srgbClr val="262626"/>
                </a:solidFill>
                <a:latin typeface="Aptos"/>
              </a:rPr>
              <a:t>Authored at construction from answer-side evidence; independently dual-verified.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Two axes. </a:t>
            </a:r>
            <a:r>
              <a:rPr sz="2400" dirty="0">
                <a:solidFill>
                  <a:srgbClr val="262626"/>
                </a:solidFill>
                <a:latin typeface="Aptos"/>
              </a:rPr>
              <a:t>Correctness (</a:t>
            </a:r>
            <a:r>
              <a:rPr lang="en-CA" sz="2400" dirty="0">
                <a:solidFill>
                  <a:srgbClr val="262626"/>
                </a:solidFill>
                <a:latin typeface="Aptos"/>
              </a:rPr>
              <a:t>must be correct</a:t>
            </a:r>
            <a:r>
              <a:rPr sz="2400" dirty="0">
                <a:solidFill>
                  <a:srgbClr val="262626"/>
                </a:solidFill>
                <a:latin typeface="Aptos"/>
              </a:rPr>
              <a:t>) + Completeness (coverage).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Timing-aware. </a:t>
            </a:r>
            <a:r>
              <a:rPr sz="2400" dirty="0">
                <a:solidFill>
                  <a:srgbClr val="262626"/>
                </a:solidFill>
                <a:latin typeface="Aptos"/>
              </a:rPr>
              <a:t>Name a fix that predates the query; for later fixes, credit same-direction remediation.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Condition- &amp; knowledge-type-aware. </a:t>
            </a:r>
            <a:r>
              <a:rPr sz="2400" dirty="0">
                <a:solidFill>
                  <a:srgbClr val="262626"/>
                </a:solidFill>
                <a:latin typeface="Aptos"/>
              </a:rPr>
              <a:t>Hallucination is scored separately.</a:t>
            </a:r>
          </a:p>
        </p:txBody>
      </p:sp>
      <p:pic>
        <p:nvPicPr>
          <p:cNvPr id="5" name="Picture 4" descr="rubric-exampl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393" y="1908315"/>
            <a:ext cx="5623560" cy="277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4393" y="4905750"/>
            <a:ext cx="5623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Aptos"/>
              </a:rPr>
              <a:t>axios #6969: question + gold answer → Correctness / Completeness rubric</a:t>
            </a:r>
          </a:p>
        </p:txBody>
      </p:sp>
    </p:spTree>
    <p:extLst>
      <p:ext uri="{BB962C8B-B14F-4D97-AF65-F5344CB8AC3E}">
        <p14:creationId xmlns:p14="http://schemas.microsoft.com/office/powerpoint/2010/main" val="1584954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0E35-311B-357F-5219-73905218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690688"/>
            <a:ext cx="11094720" cy="32778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9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1900" b="1" dirty="0">
                <a:solidFill>
                  <a:srgbClr val="156082"/>
                </a:solidFill>
                <a:latin typeface="Aptos"/>
              </a:rPr>
              <a:t>Time-capped snapshot. </a:t>
            </a:r>
            <a:r>
              <a:rPr sz="1900" dirty="0">
                <a:solidFill>
                  <a:srgbClr val="262626"/>
                </a:solidFill>
                <a:latin typeface="Aptos"/>
              </a:rPr>
              <a:t>Repo, issues/PRs, and advisories frozen at the moment the query was asked</a:t>
            </a:r>
            <a:endParaRPr lang="en-CA" sz="1900" dirty="0">
              <a:solidFill>
                <a:srgbClr val="262626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9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1900" b="1" dirty="0">
                <a:solidFill>
                  <a:srgbClr val="156082"/>
                </a:solidFill>
                <a:latin typeface="Aptos"/>
              </a:rPr>
              <a:t>Three system classes. </a:t>
            </a:r>
            <a:endParaRPr lang="en-CA" sz="1900" b="1" dirty="0">
              <a:solidFill>
                <a:srgbClr val="156082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lang="en-CA" sz="1900" b="1" dirty="0">
                <a:solidFill>
                  <a:srgbClr val="156082"/>
                </a:solidFill>
                <a:latin typeface="Aptos"/>
              </a:rPr>
              <a:t>	</a:t>
            </a:r>
            <a:r>
              <a:rPr sz="1900" dirty="0">
                <a:solidFill>
                  <a:srgbClr val="262626"/>
                </a:solidFill>
                <a:latin typeface="Aptos"/>
              </a:rPr>
              <a:t>Bare LLMs (no </a:t>
            </a:r>
            <a:r>
              <a:rPr lang="en-CA" sz="1900" dirty="0">
                <a:solidFill>
                  <a:srgbClr val="262626"/>
                </a:solidFill>
                <a:latin typeface="Aptos"/>
              </a:rPr>
              <a:t>repo </a:t>
            </a:r>
            <a:r>
              <a:rPr sz="1900" dirty="0">
                <a:solidFill>
                  <a:srgbClr val="262626"/>
                </a:solidFill>
                <a:latin typeface="Aptos"/>
              </a:rPr>
              <a:t>context) </a:t>
            </a:r>
            <a:r>
              <a:rPr lang="en-CA" sz="1900" dirty="0">
                <a:solidFill>
                  <a:srgbClr val="262626"/>
                </a:solidFill>
                <a:latin typeface="Aptos"/>
              </a:rPr>
              <a:t> (Implemented)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lang="en-CA" sz="1900" dirty="0">
                <a:solidFill>
                  <a:srgbClr val="262626"/>
                </a:solidFill>
                <a:latin typeface="Aptos"/>
              </a:rPr>
              <a:t>	T</a:t>
            </a:r>
            <a:r>
              <a:rPr sz="1900" dirty="0" err="1">
                <a:solidFill>
                  <a:srgbClr val="262626"/>
                </a:solidFill>
                <a:latin typeface="Aptos"/>
              </a:rPr>
              <a:t>yped</a:t>
            </a:r>
            <a:r>
              <a:rPr sz="1900" dirty="0">
                <a:solidFill>
                  <a:srgbClr val="262626"/>
                </a:solidFill>
                <a:latin typeface="Aptos"/>
              </a:rPr>
              <a:t>-tool reference agent (5 artifact groups / 11 tools) </a:t>
            </a:r>
            <a:r>
              <a:rPr lang="en-CA" sz="1900" dirty="0">
                <a:solidFill>
                  <a:srgbClr val="262626"/>
                </a:solidFill>
                <a:latin typeface="Aptos"/>
              </a:rPr>
              <a:t>(Implemented)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lang="en-CA" sz="1900" dirty="0">
                <a:solidFill>
                  <a:srgbClr val="262626"/>
                </a:solidFill>
                <a:latin typeface="Aptos"/>
              </a:rPr>
              <a:t>	O</a:t>
            </a:r>
            <a:r>
              <a:rPr sz="1900" dirty="0">
                <a:solidFill>
                  <a:srgbClr val="262626"/>
                </a:solidFill>
                <a:latin typeface="Aptos"/>
              </a:rPr>
              <a:t>ff-the-shelf agents (Claude Code, </a:t>
            </a:r>
            <a:r>
              <a:rPr sz="1900" dirty="0" err="1">
                <a:solidFill>
                  <a:srgbClr val="262626"/>
                </a:solidFill>
                <a:latin typeface="Aptos"/>
              </a:rPr>
              <a:t>OpenCode</a:t>
            </a:r>
            <a:r>
              <a:rPr sz="1900" dirty="0">
                <a:solidFill>
                  <a:srgbClr val="262626"/>
                </a:solidFill>
                <a:latin typeface="Aptos"/>
              </a:rPr>
              <a:t>)</a:t>
            </a:r>
            <a:r>
              <a:rPr lang="en-CA" sz="1900" dirty="0">
                <a:solidFill>
                  <a:srgbClr val="262626"/>
                </a:solidFill>
                <a:latin typeface="Aptos"/>
              </a:rPr>
              <a:t> (Planned)</a:t>
            </a:r>
            <a:endParaRPr sz="1900" dirty="0">
              <a:solidFill>
                <a:srgbClr val="262626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9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1900" b="1" dirty="0">
                <a:solidFill>
                  <a:srgbClr val="156082"/>
                </a:solidFill>
                <a:latin typeface="Aptos"/>
              </a:rPr>
              <a:t>Context conditions. </a:t>
            </a:r>
            <a:r>
              <a:rPr sz="1900" dirty="0">
                <a:solidFill>
                  <a:srgbClr val="262626"/>
                </a:solidFill>
                <a:latin typeface="Aptos"/>
              </a:rPr>
              <a:t>No context  ·  full snapshot  ·  selective provision (leave-one-out &amp; single-group).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9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lang="en-CA" sz="1900" b="1" dirty="0">
                <a:solidFill>
                  <a:srgbClr val="156082"/>
                </a:solidFill>
                <a:latin typeface="Aptos"/>
              </a:rPr>
              <a:t>Accuracy</a:t>
            </a:r>
            <a:r>
              <a:rPr sz="1900" b="1" dirty="0">
                <a:solidFill>
                  <a:srgbClr val="156082"/>
                </a:solidFill>
                <a:latin typeface="Aptos"/>
              </a:rPr>
              <a:t>. </a:t>
            </a:r>
            <a:r>
              <a:rPr sz="1900" dirty="0">
                <a:solidFill>
                  <a:srgbClr val="262626"/>
                </a:solidFill>
                <a:latin typeface="Aptos"/>
              </a:rPr>
              <a:t>Accuracy by category × knowledge type; marginal value of each artifact type when granted or withheld.</a:t>
            </a:r>
          </a:p>
        </p:txBody>
      </p:sp>
    </p:spTree>
    <p:extLst>
      <p:ext uri="{BB962C8B-B14F-4D97-AF65-F5344CB8AC3E}">
        <p14:creationId xmlns:p14="http://schemas.microsoft.com/office/powerpoint/2010/main" val="548395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ptos"/>
              </a:rPr>
              <a:t>Status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586" y="1690688"/>
            <a:ext cx="11094720" cy="31393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Done – pipeline is </a:t>
            </a:r>
            <a:r>
              <a:rPr lang="en-CA" sz="2400" b="1" dirty="0">
                <a:solidFill>
                  <a:srgbClr val="156082"/>
                </a:solidFill>
                <a:latin typeface="Aptos"/>
              </a:rPr>
              <a:t>complete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. </a:t>
            </a:r>
            <a:r>
              <a:rPr sz="2400" dirty="0">
                <a:solidFill>
                  <a:srgbClr val="262626"/>
                </a:solidFill>
                <a:latin typeface="Aptos"/>
              </a:rPr>
              <a:t>Mining + two-stage detection battle-tested across </a:t>
            </a:r>
            <a:r>
              <a:rPr lang="en-CA" sz="2400" dirty="0">
                <a:solidFill>
                  <a:srgbClr val="262626"/>
                </a:solidFill>
                <a:latin typeface="Aptos"/>
              </a:rPr>
              <a:t>20</a:t>
            </a:r>
            <a:r>
              <a:rPr sz="2400" dirty="0">
                <a:solidFill>
                  <a:srgbClr val="262626"/>
                </a:solidFill>
                <a:latin typeface="Aptos"/>
              </a:rPr>
              <a:t> repos; 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Done – evaluation harness built. </a:t>
            </a:r>
            <a:r>
              <a:rPr sz="2400" dirty="0">
                <a:solidFill>
                  <a:srgbClr val="262626"/>
                </a:solidFill>
                <a:latin typeface="Aptos"/>
              </a:rPr>
              <a:t>Time-capped snapshot, typed-tool reference agent, and a web UI for launching/monitoring runs.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In progress. </a:t>
            </a:r>
            <a:r>
              <a:rPr sz="2400" dirty="0">
                <a:solidFill>
                  <a:srgbClr val="262626"/>
                </a:solidFill>
                <a:latin typeface="Aptos"/>
              </a:rPr>
              <a:t>Scaling the corpus (</a:t>
            </a:r>
            <a:r>
              <a:rPr lang="en-CA" sz="2400" dirty="0">
                <a:solidFill>
                  <a:srgbClr val="262626"/>
                </a:solidFill>
                <a:latin typeface="Aptos"/>
              </a:rPr>
              <a:t>300</a:t>
            </a:r>
            <a:r>
              <a:rPr sz="2400" dirty="0">
                <a:solidFill>
                  <a:srgbClr val="262626"/>
                </a:solidFill>
                <a:latin typeface="Aptos"/>
              </a:rPr>
              <a:t>+ pairs, ≥</a:t>
            </a:r>
            <a:r>
              <a:rPr lang="en-CA" sz="2400" dirty="0">
                <a:solidFill>
                  <a:srgbClr val="262626"/>
                </a:solidFill>
                <a:latin typeface="Aptos"/>
              </a:rPr>
              <a:t> 2</a:t>
            </a:r>
            <a:r>
              <a:rPr sz="2400" dirty="0">
                <a:solidFill>
                  <a:srgbClr val="262626"/>
                </a:solidFill>
                <a:latin typeface="Aptos"/>
              </a:rPr>
              <a:t>5 repos), QA synthesis + per-item rubrics at scale, and dual annotation with Cohen’s </a:t>
            </a:r>
            <a:r>
              <a:rPr sz="2400" dirty="0" err="1">
                <a:solidFill>
                  <a:srgbClr val="262626"/>
                </a:solidFill>
                <a:latin typeface="Aptos"/>
              </a:rPr>
              <a:t>κ</a:t>
            </a:r>
            <a:r>
              <a:rPr sz="2400" dirty="0">
                <a:solidFill>
                  <a:srgbClr val="262626"/>
                </a:solidFill>
                <a:latin typeface="Aptos"/>
              </a:rPr>
              <a:t>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400" b="1" dirty="0">
                <a:solidFill>
                  <a:srgbClr val="E97132"/>
                </a:solidFill>
                <a:latin typeface="Aptos"/>
              </a:rPr>
              <a:t>•  </a:t>
            </a:r>
            <a:r>
              <a:rPr sz="2400" b="1" dirty="0">
                <a:solidFill>
                  <a:srgbClr val="156082"/>
                </a:solidFill>
                <a:latin typeface="Aptos"/>
              </a:rPr>
              <a:t>Next. </a:t>
            </a:r>
            <a:r>
              <a:rPr lang="en-CA" sz="2400" dirty="0">
                <a:solidFill>
                  <a:srgbClr val="262626"/>
                </a:solidFill>
                <a:latin typeface="Aptos"/>
              </a:rPr>
              <a:t>Finding multi turn queries from </a:t>
            </a:r>
            <a:r>
              <a:rPr lang="en-CA" sz="2400" dirty="0" err="1">
                <a:solidFill>
                  <a:srgbClr val="262626"/>
                </a:solidFill>
                <a:latin typeface="Aptos"/>
              </a:rPr>
              <a:t>Github</a:t>
            </a:r>
            <a:r>
              <a:rPr lang="en-CA" sz="2400" dirty="0">
                <a:solidFill>
                  <a:srgbClr val="262626"/>
                </a:solidFill>
                <a:latin typeface="Aptos"/>
              </a:rPr>
              <a:t> Issues.</a:t>
            </a:r>
            <a:endParaRPr sz="2400" dirty="0">
              <a:solidFill>
                <a:srgbClr val="262626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694</Words>
  <Application>Microsoft Macintosh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SecDevQA</vt:lpstr>
      <vt:lpstr>Motivating Examples</vt:lpstr>
      <vt:lpstr>We Ask</vt:lpstr>
      <vt:lpstr>Approach</vt:lpstr>
      <vt:lpstr>Data Sourcing</vt:lpstr>
      <vt:lpstr>QA Pair Extraction</vt:lpstr>
      <vt:lpstr>QA Synthesis</vt:lpstr>
      <vt:lpstr>Grading Rubric</vt:lpstr>
      <vt:lpstr>Evaluation</vt:lpstr>
      <vt:lpstr>Status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Afif Al Mamun</dc:creator>
  <cp:lastModifiedBy>Md Afif Al Mamun</cp:lastModifiedBy>
  <cp:revision>2</cp:revision>
  <dcterms:created xsi:type="dcterms:W3CDTF">2026-07-20T00:47:59Z</dcterms:created>
  <dcterms:modified xsi:type="dcterms:W3CDTF">2026-07-20T13:53:40Z</dcterms:modified>
</cp:coreProperties>
</file>